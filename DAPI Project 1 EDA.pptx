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Raleway" pitchFamily="2" charset="0"/>
      <p:regular r:id="rId13"/>
      <p:bold r:id="rId14"/>
      <p:italic r:id="rId15"/>
      <p:boldItalic r:id="rId16"/>
    </p:embeddedFont>
    <p:embeddedFont>
      <p:font typeface="Roboto" panose="02000000000000000000" pitchFamily="2" charset="0"/>
      <p:regular r:id="rId17"/>
      <p:bold r:id="rId18"/>
      <p:italic r:id="rId19"/>
      <p:boldItalic r:id="rId20"/>
    </p:embeddedFont>
    <p:embeddedFont>
      <p:font typeface="Source Sans Pro" panose="020B0503030403020204" pitchFamily="34"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4414D4-41A6-4A18-939E-C44998C79D95}">
  <a:tblStyle styleId="{DE4414D4-41A6-4A18-939E-C44998C79D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40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bc116a597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2bc116a597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bc116a5979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bc116a5979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bc116a5979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bc116a5979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bc116a5979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bc116a5979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bc116a5979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bc116a5979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bc116a597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bc116a597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bc116a5979_1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bc116a5979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bc116a5979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bc116a5979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bc116a5979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bc116a5979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atin typeface="Times New Roman" panose="02020603050405020304" pitchFamily="18" charset="0"/>
                <a:cs typeface="Times New Roman" panose="02020603050405020304" pitchFamily="18" charset="0"/>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dirty="0"/>
          </a:p>
        </p:txBody>
      </p:sp>
      <p:sp>
        <p:nvSpPr>
          <p:cNvPr id="12" name="Google Shape;12;p2"/>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400"/>
              <a:buNone/>
              <a:defRPr sz="2400">
                <a:latin typeface="Times New Roman" panose="02020603050405020304" pitchFamily="18" charset="0"/>
                <a:cs typeface="Times New Roman" panose="02020603050405020304" pitchFamily="18" charset="0"/>
              </a:defRPr>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dirty="0"/>
          </a:p>
        </p:txBody>
      </p:sp>
      <p:sp>
        <p:nvSpPr>
          <p:cNvPr id="13" name="Google Shape;13;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 name="Google Shape;29;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2"/>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6" name="Google Shape;46;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1"/>
          <p:cNvSpPr txBox="1">
            <a:spLocks noGrp="1"/>
          </p:cNvSpPr>
          <p:nvPr>
            <p:ph type="title" hasCustomPrompt="1"/>
          </p:nvPr>
        </p:nvSpPr>
        <p:spPr>
          <a:xfrm>
            <a:off x="311700" y="743001"/>
            <a:ext cx="8520600" cy="200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a:spLocks noGrp="1"/>
          </p:cNvSpPr>
          <p:nvPr>
            <p:ph type="body" idx="1"/>
          </p:nvPr>
        </p:nvSpPr>
        <p:spPr>
          <a:xfrm>
            <a:off x="311700" y="2845182"/>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51" name="Google Shape;51;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l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marL="914400" lvl="1"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marL="1371600" lvl="2"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marL="1828800" lvl="3"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marL="2286000" lvl="4"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marL="2743200" lvl="5"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marL="3200400" lvl="6"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marL="3657600" lvl="7"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marL="4114800" lvl="8"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a:endParaRPr dirty="0"/>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4600" dirty="0"/>
              <a:t>Project Brief - Customer Personality Analysis</a:t>
            </a:r>
            <a:endParaRPr sz="4600" dirty="0"/>
          </a:p>
        </p:txBody>
      </p:sp>
      <p:sp>
        <p:nvSpPr>
          <p:cNvPr id="59" name="Google Shape;59;p13"/>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Group 4</a:t>
            </a:r>
            <a:endParaRPr dirty="0"/>
          </a:p>
          <a:p>
            <a:pPr marL="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03DD612E-EF45-D0C6-6A73-E4AE5AC1FE4A}"/>
              </a:ext>
            </a:extLst>
          </p:cNvPr>
          <p:cNvSpPr txBox="1"/>
          <p:nvPr/>
        </p:nvSpPr>
        <p:spPr>
          <a:xfrm>
            <a:off x="485875" y="3405426"/>
            <a:ext cx="3374728" cy="738664"/>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 Siddhant </a:t>
            </a:r>
            <a:r>
              <a:rPr lang="en-US" dirty="0" err="1">
                <a:solidFill>
                  <a:schemeClr val="bg1"/>
                </a:solidFill>
                <a:latin typeface="Times New Roman" panose="02020603050405020304" pitchFamily="18" charset="0"/>
                <a:cs typeface="Times New Roman" panose="02020603050405020304" pitchFamily="18" charset="0"/>
              </a:rPr>
              <a:t>Gadhe</a:t>
            </a:r>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Kshitij Kamat</a:t>
            </a:r>
          </a:p>
          <a:p>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Shilong</a:t>
            </a:r>
            <a:r>
              <a:rPr lang="en-US" dirty="0">
                <a:solidFill>
                  <a:schemeClr val="bg1"/>
                </a:solidFill>
                <a:latin typeface="Times New Roman" panose="02020603050405020304" pitchFamily="18" charset="0"/>
                <a:cs typeface="Times New Roman" panose="02020603050405020304" pitchFamily="18" charset="0"/>
              </a:rPr>
              <a:t> Ye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311700" y="1288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1000"/>
              </a:spcBef>
              <a:spcAft>
                <a:spcPts val="0"/>
              </a:spcAft>
              <a:buClr>
                <a:schemeClr val="dk1"/>
              </a:buClr>
              <a:buSzPct val="48058"/>
              <a:buFont typeface="Arial"/>
              <a:buNone/>
            </a:pPr>
            <a:r>
              <a:rPr lang="en" sz="2700" b="1" dirty="0">
                <a:highlight>
                  <a:srgbClr val="FFFFFF"/>
                </a:highlight>
                <a:latin typeface="Times New Roman" panose="02020603050405020304" pitchFamily="18" charset="0"/>
                <a:cs typeface="Times New Roman" panose="02020603050405020304" pitchFamily="18" charset="0"/>
              </a:rPr>
              <a:t>Project Summary</a:t>
            </a:r>
            <a:endParaRPr sz="2700" b="1" dirty="0">
              <a:highlight>
                <a:srgbClr val="FFFFFF"/>
              </a:highlight>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65" name="Google Shape;65;p14"/>
          <p:cNvSpPr txBox="1">
            <a:spLocks noGrp="1"/>
          </p:cNvSpPr>
          <p:nvPr>
            <p:ph type="body" idx="1"/>
          </p:nvPr>
        </p:nvSpPr>
        <p:spPr>
          <a:xfrm>
            <a:off x="311700" y="868800"/>
            <a:ext cx="8691900" cy="3863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018"/>
              <a:buFont typeface="Arial"/>
              <a:buNone/>
            </a:pPr>
            <a:r>
              <a:rPr lang="en" sz="1210" b="1" dirty="0">
                <a:solidFill>
                  <a:srgbClr val="0D0D0D"/>
                </a:solidFill>
                <a:highlight>
                  <a:srgbClr val="FFFFFF"/>
                </a:highlight>
                <a:latin typeface="Times New Roman" panose="02020603050405020304" pitchFamily="18" charset="0"/>
                <a:cs typeface="Times New Roman" panose="02020603050405020304" pitchFamily="18" charset="0"/>
              </a:rPr>
              <a:t>Objective:</a:t>
            </a:r>
            <a:r>
              <a:rPr lang="en" sz="1210" dirty="0">
                <a:solidFill>
                  <a:srgbClr val="0D0D0D"/>
                </a:solidFill>
                <a:highlight>
                  <a:srgbClr val="FFFFFF"/>
                </a:highlight>
                <a:latin typeface="Times New Roman" panose="02020603050405020304" pitchFamily="18" charset="0"/>
                <a:cs typeface="Times New Roman" panose="02020603050405020304" pitchFamily="18" charset="0"/>
              </a:rPr>
              <a:t> To analyze the effectiveness of discounts on customer purchasing behavior and develop strategies to enhance sales and customer engagement.</a:t>
            </a:r>
            <a:endParaRPr sz="121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95000"/>
              </a:lnSpc>
              <a:spcBef>
                <a:spcPts val="1500"/>
              </a:spcBef>
              <a:spcAft>
                <a:spcPts val="0"/>
              </a:spcAft>
              <a:buClr>
                <a:schemeClr val="dk1"/>
              </a:buClr>
              <a:buSzPts val="1018"/>
              <a:buFont typeface="Arial"/>
              <a:buNone/>
            </a:pPr>
            <a:r>
              <a:rPr lang="en" sz="1210" b="1" dirty="0">
                <a:solidFill>
                  <a:srgbClr val="0D0D0D"/>
                </a:solidFill>
                <a:highlight>
                  <a:srgbClr val="FFFFFF"/>
                </a:highlight>
                <a:latin typeface="Times New Roman" panose="02020603050405020304" pitchFamily="18" charset="0"/>
                <a:cs typeface="Times New Roman" panose="02020603050405020304" pitchFamily="18" charset="0"/>
              </a:rPr>
              <a:t>Interest Groups:</a:t>
            </a:r>
            <a:r>
              <a:rPr lang="en" sz="1210" dirty="0">
                <a:solidFill>
                  <a:srgbClr val="0D0D0D"/>
                </a:solidFill>
                <a:highlight>
                  <a:srgbClr val="FFFFFF"/>
                </a:highlight>
                <a:latin typeface="Times New Roman" panose="02020603050405020304" pitchFamily="18" charset="0"/>
                <a:cs typeface="Times New Roman" panose="02020603050405020304" pitchFamily="18" charset="0"/>
              </a:rPr>
              <a:t> Marketing teams, sales departments, and senior management would be keenly interested in the outcomes to refine discounting strategies, enhance customer engagement, and boost revenue.</a:t>
            </a:r>
            <a:endParaRPr sz="121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95000"/>
              </a:lnSpc>
              <a:spcBef>
                <a:spcPts val="1500"/>
              </a:spcBef>
              <a:spcAft>
                <a:spcPts val="0"/>
              </a:spcAft>
              <a:buClr>
                <a:schemeClr val="dk1"/>
              </a:buClr>
              <a:buSzPts val="1018"/>
              <a:buFont typeface="Arial"/>
              <a:buNone/>
            </a:pPr>
            <a:r>
              <a:rPr lang="en" sz="1210" b="1" dirty="0">
                <a:solidFill>
                  <a:srgbClr val="0D0D0D"/>
                </a:solidFill>
                <a:highlight>
                  <a:srgbClr val="FFFFFF"/>
                </a:highlight>
                <a:latin typeface="Times New Roman" panose="02020603050405020304" pitchFamily="18" charset="0"/>
                <a:cs typeface="Times New Roman" panose="02020603050405020304" pitchFamily="18" charset="0"/>
              </a:rPr>
              <a:t>Furthering Work:</a:t>
            </a:r>
            <a:r>
              <a:rPr lang="en" sz="1210" dirty="0">
                <a:solidFill>
                  <a:srgbClr val="0D0D0D"/>
                </a:solidFill>
                <a:highlight>
                  <a:srgbClr val="FFFFFF"/>
                </a:highlight>
                <a:latin typeface="Times New Roman" panose="02020603050405020304" pitchFamily="18" charset="0"/>
                <a:cs typeface="Times New Roman" panose="02020603050405020304" pitchFamily="18" charset="0"/>
              </a:rPr>
              <a:t> This project aims to build on existing customer data analytics, enhancing understanding of how discounts affect purchasing across different channels and customer segments.</a:t>
            </a:r>
            <a:endParaRPr sz="121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95000"/>
              </a:lnSpc>
              <a:spcBef>
                <a:spcPts val="1500"/>
              </a:spcBef>
              <a:spcAft>
                <a:spcPts val="0"/>
              </a:spcAft>
              <a:buClr>
                <a:schemeClr val="dk1"/>
              </a:buClr>
              <a:buSzPts val="1018"/>
              <a:buFont typeface="Arial"/>
              <a:buNone/>
            </a:pPr>
            <a:r>
              <a:rPr lang="en" sz="1210" b="1" dirty="0">
                <a:solidFill>
                  <a:srgbClr val="0D0D0D"/>
                </a:solidFill>
                <a:highlight>
                  <a:srgbClr val="FFFFFF"/>
                </a:highlight>
                <a:latin typeface="Times New Roman" panose="02020603050405020304" pitchFamily="18" charset="0"/>
                <a:cs typeface="Times New Roman" panose="02020603050405020304" pitchFamily="18" charset="0"/>
              </a:rPr>
              <a:t>Data Utilized:</a:t>
            </a:r>
            <a:r>
              <a:rPr lang="en" sz="1210" dirty="0">
                <a:solidFill>
                  <a:srgbClr val="0D0D0D"/>
                </a:solidFill>
                <a:highlight>
                  <a:srgbClr val="FFFFFF"/>
                </a:highlight>
                <a:latin typeface="Times New Roman" panose="02020603050405020304" pitchFamily="18" charset="0"/>
                <a:cs typeface="Times New Roman" panose="02020603050405020304" pitchFamily="18" charset="0"/>
              </a:rPr>
              <a:t> </a:t>
            </a:r>
            <a:r>
              <a:rPr lang="en" sz="121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Customer demographics: ID, Year of Birth, Education, Marital Status, Income; Household composition: Kidhome, Teenhome; Engagement and purchasing behavior: Recency, NumDealsPurchases, MntProducts (Wines, Fruits, etc.), Campaign Responses.</a:t>
            </a:r>
            <a:endParaRPr sz="121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95000"/>
              </a:lnSpc>
              <a:spcBef>
                <a:spcPts val="1500"/>
              </a:spcBef>
              <a:spcAft>
                <a:spcPts val="0"/>
              </a:spcAft>
              <a:buClr>
                <a:schemeClr val="dk1"/>
              </a:buClr>
              <a:buSzPts val="1018"/>
              <a:buFont typeface="Arial"/>
              <a:buNone/>
            </a:pPr>
            <a:r>
              <a:rPr lang="en" sz="1210" b="1" dirty="0">
                <a:solidFill>
                  <a:srgbClr val="0D0D0D"/>
                </a:solidFill>
                <a:highlight>
                  <a:srgbClr val="FFFFFF"/>
                </a:highlight>
                <a:latin typeface="Times New Roman" panose="02020603050405020304" pitchFamily="18" charset="0"/>
                <a:cs typeface="Times New Roman" panose="02020603050405020304" pitchFamily="18" charset="0"/>
              </a:rPr>
              <a:t>Analysis Methods</a:t>
            </a:r>
            <a:r>
              <a:rPr lang="en" sz="1210" dirty="0">
                <a:solidFill>
                  <a:srgbClr val="0D0D0D"/>
                </a:solidFill>
                <a:highlight>
                  <a:srgbClr val="FFFFFF"/>
                </a:highlight>
                <a:latin typeface="Times New Roman" panose="02020603050405020304" pitchFamily="18" charset="0"/>
                <a:cs typeface="Times New Roman" panose="02020603050405020304" pitchFamily="18" charset="0"/>
              </a:rPr>
              <a:t>: Correlation analysis, customer segmentation, and Comparative Analysis to assess promotional vs. regular purchase behaviors. Descriptive statistics to summarize data characteristics. Visualization techniques (histograms, box plots, scatter plots) to identify patterns and outliers.</a:t>
            </a:r>
            <a:endParaRPr sz="121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95000"/>
              </a:lnSpc>
              <a:spcBef>
                <a:spcPts val="1500"/>
              </a:spcBef>
              <a:spcAft>
                <a:spcPts val="0"/>
              </a:spcAft>
              <a:buClr>
                <a:schemeClr val="dk1"/>
              </a:buClr>
              <a:buSzPts val="1018"/>
              <a:buFont typeface="Arial"/>
              <a:buNone/>
            </a:pPr>
            <a:r>
              <a:rPr lang="en" sz="1210" b="1" dirty="0">
                <a:solidFill>
                  <a:srgbClr val="0D0D0D"/>
                </a:solidFill>
                <a:highlight>
                  <a:srgbClr val="FFFFFF"/>
                </a:highlight>
                <a:latin typeface="Times New Roman" panose="02020603050405020304" pitchFamily="18" charset="0"/>
                <a:cs typeface="Times New Roman" panose="02020603050405020304" pitchFamily="18" charset="0"/>
              </a:rPr>
              <a:t>Beneficiaries: </a:t>
            </a:r>
            <a:r>
              <a:rPr lang="en" sz="1210" dirty="0">
                <a:solidFill>
                  <a:srgbClr val="0D0D0D"/>
                </a:solidFill>
                <a:highlight>
                  <a:schemeClr val="lt1"/>
                </a:highlight>
                <a:latin typeface="Times New Roman" panose="02020603050405020304" pitchFamily="18" charset="0"/>
                <a:cs typeface="Times New Roman" panose="02020603050405020304" pitchFamily="18" charset="0"/>
              </a:rPr>
              <a:t>The direct beneficiaries will be the </a:t>
            </a:r>
            <a:r>
              <a:rPr lang="en" sz="1210" dirty="0">
                <a:solidFill>
                  <a:srgbClr val="0D0D0D"/>
                </a:solidFill>
                <a:highlight>
                  <a:srgbClr val="FFFFFF"/>
                </a:highlight>
                <a:latin typeface="Times New Roman" panose="02020603050405020304" pitchFamily="18" charset="0"/>
                <a:cs typeface="Times New Roman" panose="02020603050405020304" pitchFamily="18" charset="0"/>
              </a:rPr>
              <a:t>marketing team for crafting precise discount strategies </a:t>
            </a:r>
            <a:r>
              <a:rPr lang="en" sz="1210" dirty="0">
                <a:solidFill>
                  <a:srgbClr val="0D0D0D"/>
                </a:solidFill>
                <a:highlight>
                  <a:schemeClr val="lt1"/>
                </a:highlight>
                <a:latin typeface="Times New Roman" panose="02020603050405020304" pitchFamily="18" charset="0"/>
                <a:cs typeface="Times New Roman" panose="02020603050405020304" pitchFamily="18" charset="0"/>
              </a:rPr>
              <a:t>which can use insights to optimize discount strategies</a:t>
            </a:r>
            <a:r>
              <a:rPr lang="en" sz="1210" dirty="0">
                <a:solidFill>
                  <a:srgbClr val="0D0D0D"/>
                </a:solidFill>
                <a:highlight>
                  <a:srgbClr val="FFFFFF"/>
                </a:highlight>
                <a:latin typeface="Times New Roman" panose="02020603050405020304" pitchFamily="18" charset="0"/>
                <a:cs typeface="Times New Roman" panose="02020603050405020304" pitchFamily="18" charset="0"/>
              </a:rPr>
              <a:t>. Product teams for aligning offerings with customer preferences.</a:t>
            </a:r>
            <a:endParaRPr sz="121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95000"/>
              </a:lnSpc>
              <a:spcBef>
                <a:spcPts val="1500"/>
              </a:spcBef>
              <a:spcAft>
                <a:spcPts val="1500"/>
              </a:spcAft>
              <a:buClr>
                <a:schemeClr val="dk1"/>
              </a:buClr>
              <a:buSzPts val="1018"/>
              <a:buFont typeface="Arial"/>
              <a:buNone/>
            </a:pPr>
            <a:r>
              <a:rPr lang="en" sz="1210" b="1" dirty="0">
                <a:solidFill>
                  <a:srgbClr val="0D0D0D"/>
                </a:solidFill>
                <a:highlight>
                  <a:srgbClr val="FFFFFF"/>
                </a:highlight>
                <a:latin typeface="Times New Roman" panose="02020603050405020304" pitchFamily="18" charset="0"/>
                <a:cs typeface="Times New Roman" panose="02020603050405020304" pitchFamily="18" charset="0"/>
              </a:rPr>
              <a:t>Outcome and Impact:</a:t>
            </a:r>
            <a:r>
              <a:rPr lang="en" sz="1210" dirty="0">
                <a:solidFill>
                  <a:srgbClr val="0D0D0D"/>
                </a:solidFill>
                <a:highlight>
                  <a:srgbClr val="FFFFFF"/>
                </a:highlight>
                <a:latin typeface="Times New Roman" panose="02020603050405020304" pitchFamily="18" charset="0"/>
                <a:cs typeface="Times New Roman" panose="02020603050405020304" pitchFamily="18" charset="0"/>
              </a:rPr>
              <a:t> </a:t>
            </a:r>
            <a:r>
              <a:rPr lang="en" sz="121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A comprehensive EDA report highlighting key insights on discount effectiveness and customer behavior. Identification of potential opportunities for increasing sales and customer engagement through targeted discounts.</a:t>
            </a:r>
            <a:endParaRPr sz="1765"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idx="4294967295"/>
          </p:nvPr>
        </p:nvSpPr>
        <p:spPr>
          <a:xfrm>
            <a:off x="311700" y="590250"/>
            <a:ext cx="8520600" cy="3963000"/>
          </a:xfrm>
          <a:prstGeom prst="rect">
            <a:avLst/>
          </a:prstGeom>
        </p:spPr>
        <p:txBody>
          <a:bodyPr spcFirstLastPara="1" wrap="square" lIns="91425" tIns="91425" rIns="91425" bIns="91425" anchor="t" anchorCtr="0">
            <a:noAutofit/>
          </a:bodyPr>
          <a:lstStyle/>
          <a:p>
            <a:pPr marL="0" lvl="0" indent="0" algn="l" rtl="0">
              <a:lnSpc>
                <a:spcPct val="150000"/>
              </a:lnSpc>
              <a:spcBef>
                <a:spcPts val="1200"/>
              </a:spcBef>
              <a:spcAft>
                <a:spcPts val="0"/>
              </a:spcAft>
              <a:buClr>
                <a:schemeClr val="dk2"/>
              </a:buClr>
              <a:buSzPts val="1100"/>
              <a:buFont typeface="Arial"/>
              <a:buNone/>
            </a:pPr>
            <a:r>
              <a:rPr lang="en" sz="11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Team and Sponsor Expectations:</a:t>
            </a:r>
            <a:endParaRPr sz="11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20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Gain deep insights into customer purchasing behavior influenced by discounts.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Understand the effectiveness of discount strategies on various customer segments.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150000"/>
              </a:lnSpc>
              <a:spcBef>
                <a:spcPts val="1500"/>
              </a:spcBef>
              <a:spcAft>
                <a:spcPts val="0"/>
              </a:spcAft>
              <a:buClr>
                <a:schemeClr val="dk2"/>
              </a:buClr>
              <a:buSzPts val="1100"/>
              <a:buFont typeface="Arial"/>
              <a:buNone/>
            </a:pPr>
            <a:r>
              <a:rPr lang="en" sz="11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Current Gaps and Problems:</a:t>
            </a:r>
            <a:endParaRPr sz="11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20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Limited understanding of how discounts impact customer purchasing patterns.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Inefficiencies in targeting the right customer segments with promotional offers.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Lack of data-driven insights to guide marketing and sales strategies.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150000"/>
              </a:lnSpc>
              <a:spcBef>
                <a:spcPts val="1500"/>
              </a:spcBef>
              <a:spcAft>
                <a:spcPts val="0"/>
              </a:spcAft>
              <a:buClr>
                <a:schemeClr val="dk2"/>
              </a:buClr>
              <a:buSzPts val="1100"/>
              <a:buFont typeface="Arial"/>
              <a:buNone/>
            </a:pPr>
            <a:r>
              <a:rPr lang="en" sz="11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What EDA Aims to Solve:</a:t>
            </a:r>
            <a:endParaRPr sz="11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20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Identify Patterns and Trends: Uncover hidden patterns in customer behavior that are not apparent without in-depth data analysis.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Spot Anomalies: Identify outliers in purchasing behavior that may indicate opportunities or issues with current marketing strategies.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Understand Customer Segments: Provide a clearer picture of how different segments react to discounts and promotions.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Guide Resource Allocation: Help in optimizing marketing spend by focusing on the most responsive customer segments.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150000"/>
              </a:lnSpc>
              <a:spcBef>
                <a:spcPts val="1500"/>
              </a:spcBef>
              <a:spcAft>
                <a:spcPts val="0"/>
              </a:spcAft>
              <a:buClr>
                <a:schemeClr val="dk2"/>
              </a:buClr>
              <a:buSzPts val="1100"/>
              <a:buFont typeface="Arial"/>
              <a:buNone/>
            </a:pPr>
            <a:r>
              <a:rPr lang="en" sz="11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Expected Benefits:</a:t>
            </a:r>
            <a:endParaRPr sz="11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20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Enhanced targeting of marketing campaigns to increase effectiveness and ROI.</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Better product placement and promotional offers aligned with customer preferences and behaviors.</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15000"/>
              </a:lnSpc>
              <a:spcBef>
                <a:spcPts val="0"/>
              </a:spcBef>
              <a:spcAft>
                <a:spcPts val="0"/>
              </a:spcAft>
              <a:buClr>
                <a:srgbClr val="0D0D0D"/>
              </a:buClr>
              <a:buSzPts val="1000"/>
              <a:buFont typeface="Roboto"/>
              <a:buChar char="●"/>
            </a:pPr>
            <a:r>
              <a:rPr lang="en"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Strategic insights that enable the company to adapt to customer needs more dynamically.</a:t>
            </a:r>
            <a:endParaRPr sz="1100" b="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115000"/>
              </a:lnSpc>
              <a:spcBef>
                <a:spcPts val="1500"/>
              </a:spcBef>
              <a:spcAft>
                <a:spcPts val="1500"/>
              </a:spcAft>
              <a:buClr>
                <a:schemeClr val="dk2"/>
              </a:buClr>
              <a:buSzPts val="1100"/>
              <a:buFont typeface="Arial"/>
              <a:buNone/>
            </a:pPr>
            <a:endParaRPr sz="2000" dirty="0">
              <a:highlight>
                <a:srgbClr val="FFFFFF"/>
              </a:highlight>
              <a:latin typeface="Times New Roman" panose="02020603050405020304" pitchFamily="18" charset="0"/>
              <a:cs typeface="Times New Roman" panose="02020603050405020304" pitchFamily="18" charset="0"/>
            </a:endParaRPr>
          </a:p>
        </p:txBody>
      </p:sp>
      <p:sp>
        <p:nvSpPr>
          <p:cNvPr id="71" name="Google Shape;71;p15"/>
          <p:cNvSpPr txBox="1">
            <a:spLocks noGrp="1"/>
          </p:cNvSpPr>
          <p:nvPr>
            <p:ph type="title" idx="4294967295"/>
          </p:nvPr>
        </p:nvSpPr>
        <p:spPr>
          <a:xfrm>
            <a:off x="311700" y="207875"/>
            <a:ext cx="8520600" cy="623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dirty="0">
                <a:highlight>
                  <a:srgbClr val="FFFFFF"/>
                </a:highlight>
                <a:latin typeface="Times New Roman" panose="02020603050405020304" pitchFamily="18" charset="0"/>
                <a:cs typeface="Times New Roman" panose="02020603050405020304" pitchFamily="18" charset="0"/>
              </a:rPr>
              <a:t>Overview of Needs</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990"/>
              <a:buFont typeface="Arial"/>
              <a:buNone/>
            </a:pPr>
            <a:r>
              <a:rPr lang="en" sz="2400" b="1" dirty="0">
                <a:highlight>
                  <a:srgbClr val="FFFFFF"/>
                </a:highlight>
                <a:latin typeface="Times New Roman" panose="02020603050405020304" pitchFamily="18" charset="0"/>
                <a:cs typeface="Times New Roman" panose="02020603050405020304" pitchFamily="18" charset="0"/>
              </a:rPr>
              <a:t>Project Deliverables</a:t>
            </a:r>
            <a:endParaRPr sz="2400" b="1" dirty="0">
              <a:highlight>
                <a:srgbClr val="FFFFFF"/>
              </a:highlight>
              <a:latin typeface="Times New Roman" panose="02020603050405020304" pitchFamily="18" charset="0"/>
              <a:cs typeface="Times New Roman" panose="02020603050405020304" pitchFamily="18" charset="0"/>
            </a:endParaRPr>
          </a:p>
          <a:p>
            <a:pPr marL="0" lvl="0" indent="0" algn="l" rtl="0">
              <a:spcBef>
                <a:spcPts val="0"/>
              </a:spcBef>
              <a:spcAft>
                <a:spcPts val="0"/>
              </a:spcAft>
              <a:buSzPts val="990"/>
              <a:buNone/>
            </a:pPr>
            <a:endParaRPr sz="3600" dirty="0">
              <a:latin typeface="Times New Roman" panose="02020603050405020304" pitchFamily="18" charset="0"/>
              <a:cs typeface="Times New Roman" panose="02020603050405020304" pitchFamily="18" charset="0"/>
            </a:endParaRPr>
          </a:p>
        </p:txBody>
      </p:sp>
      <p:sp>
        <p:nvSpPr>
          <p:cNvPr id="77" name="Google Shape;77;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Agreed Project Deliverables:</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spcBef>
                <a:spcPts val="1500"/>
              </a:spcBef>
              <a:spcAft>
                <a:spcPts val="0"/>
              </a:spcAft>
              <a:buNone/>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A detailed document that includes statistical summaries, data visualizations, and initial findings on customer purchasing behaviors in relation to discounts. For example: </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914400" lvl="1" indent="-304800" algn="l" rtl="0">
              <a:spcBef>
                <a:spcPts val="1500"/>
              </a:spcBef>
              <a:spcAft>
                <a:spcPts val="0"/>
              </a:spcAft>
              <a:buClr>
                <a:srgbClr val="0D0D0D"/>
              </a:buClr>
              <a:buSzPts val="120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Descriptive statistics summary for each variable.</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914400" lvl="1" indent="-304800" algn="l" rtl="0">
              <a:spcBef>
                <a:spcPts val="0"/>
              </a:spcBef>
              <a:spcAft>
                <a:spcPts val="0"/>
              </a:spcAft>
              <a:buClr>
                <a:srgbClr val="0D0D0D"/>
              </a:buClr>
              <a:buSzPts val="120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Visual data analysis including histograms, box plots, and scatter plots.</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914400" lvl="1" indent="-304800" algn="l" rtl="0">
              <a:spcBef>
                <a:spcPts val="0"/>
              </a:spcBef>
              <a:spcAft>
                <a:spcPts val="0"/>
              </a:spcAft>
              <a:buClr>
                <a:srgbClr val="0D0D0D"/>
              </a:buClr>
              <a:buSzPts val="120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Correlation analysis report between different types of purchases and discount usage.</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304800" algn="l" rtl="0">
              <a:spcBef>
                <a:spcPts val="0"/>
              </a:spcBef>
              <a:spcAft>
                <a:spcPts val="0"/>
              </a:spcAft>
              <a:buClr>
                <a:srgbClr val="0D0D0D"/>
              </a:buClr>
              <a:buSzPts val="120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Customer Segmentation Analysis: Identification of distinct customer segments based on their purchasing behavior, preferences, and responsiveness to discounts.</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304800" algn="l" rtl="0">
              <a:spcBef>
                <a:spcPts val="0"/>
              </a:spcBef>
              <a:spcAft>
                <a:spcPts val="0"/>
              </a:spcAft>
              <a:buClr>
                <a:srgbClr val="0D0D0D"/>
              </a:buClr>
              <a:buSzPts val="120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Insight Presentation: A presentation summarizing key insights, patterns, anomalies, and potential strategic recommendations derived from the EDA.</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spcBef>
                <a:spcPts val="1500"/>
              </a:spcBef>
              <a:spcAft>
                <a:spcPts val="0"/>
              </a:spcAft>
              <a:buNone/>
            </a:pP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spcBef>
                <a:spcPts val="1500"/>
              </a:spcBef>
              <a:spcAft>
                <a:spcPts val="1200"/>
              </a:spcAft>
              <a:buNone/>
            </a:pP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0"/>
            <a:ext cx="8520600" cy="6234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1100"/>
              <a:buFont typeface="Arial"/>
              <a:buNone/>
            </a:pPr>
            <a:r>
              <a:rPr lang="en" sz="2400" b="1" dirty="0">
                <a:highlight>
                  <a:srgbClr val="FFFFFF"/>
                </a:highlight>
                <a:latin typeface="Times New Roman" panose="02020603050405020304" pitchFamily="18" charset="0"/>
                <a:cs typeface="Times New Roman" panose="02020603050405020304" pitchFamily="18" charset="0"/>
              </a:rPr>
              <a:t>Data Summary</a:t>
            </a:r>
            <a:endParaRPr sz="4000" dirty="0">
              <a:latin typeface="Times New Roman" panose="02020603050405020304" pitchFamily="18" charset="0"/>
              <a:cs typeface="Times New Roman" panose="02020603050405020304" pitchFamily="18" charset="0"/>
            </a:endParaRPr>
          </a:p>
        </p:txBody>
      </p:sp>
      <p:sp>
        <p:nvSpPr>
          <p:cNvPr id="83" name="Google Shape;83;p17"/>
          <p:cNvSpPr txBox="1">
            <a:spLocks noGrp="1"/>
          </p:cNvSpPr>
          <p:nvPr>
            <p:ph type="body" idx="1"/>
          </p:nvPr>
        </p:nvSpPr>
        <p:spPr>
          <a:xfrm>
            <a:off x="311700" y="508751"/>
            <a:ext cx="8227086" cy="3892210"/>
          </a:xfrm>
          <a:prstGeom prst="rect">
            <a:avLst/>
          </a:prstGeom>
        </p:spPr>
        <p:txBody>
          <a:bodyPr spcFirstLastPara="1" wrap="square" lIns="91425" tIns="91425" rIns="91425" bIns="91425" anchor="t" anchorCtr="0">
            <a:noAutofit/>
          </a:bodyPr>
          <a:lstStyle/>
          <a:p>
            <a:pPr marL="0" lvl="0" indent="0" algn="l" rtl="0">
              <a:lnSpc>
                <a:spcPct val="100000"/>
              </a:lnSpc>
              <a:spcBef>
                <a:spcPts val="1200"/>
              </a:spcBef>
              <a:spcAft>
                <a:spcPts val="0"/>
              </a:spcAft>
              <a:buSzPts val="770"/>
              <a:buNone/>
            </a:pPr>
            <a:r>
              <a:rPr lang="en" sz="1050" b="1"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What Data Do We Have?</a:t>
            </a:r>
            <a:endParaRPr sz="1050" b="1"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00000"/>
              </a:lnSpc>
              <a:spcBef>
                <a:spcPts val="200"/>
              </a:spcBef>
              <a:spcAft>
                <a:spcPts val="0"/>
              </a:spcAft>
              <a:buClr>
                <a:srgbClr val="0D0D0D"/>
              </a:buClr>
              <a:buSzPts val="1000"/>
              <a:buFont typeface="Roboto"/>
              <a:buChar char="●"/>
            </a:pP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Customer Demographics: Includes ID, Year of Birth, Education, Marital Status, and Income.</a:t>
            </a:r>
            <a:endParaRPr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00000"/>
              </a:lnSpc>
              <a:spcBef>
                <a:spcPts val="0"/>
              </a:spcBef>
              <a:spcAft>
                <a:spcPts val="0"/>
              </a:spcAft>
              <a:buClr>
                <a:srgbClr val="0D0D0D"/>
              </a:buClr>
              <a:buSzPts val="1000"/>
              <a:buFont typeface="Roboto"/>
              <a:buChar char="●"/>
            </a:pP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Household Composition: Data on Kidhome (children in the household) and Teenhome (teenagers in household).</a:t>
            </a:r>
            <a:endParaRPr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00000"/>
              </a:lnSpc>
              <a:spcBef>
                <a:spcPts val="0"/>
              </a:spcBef>
              <a:spcAft>
                <a:spcPts val="0"/>
              </a:spcAft>
              <a:buClr>
                <a:srgbClr val="0D0D0D"/>
              </a:buClr>
              <a:buSzPts val="1000"/>
              <a:buFont typeface="Roboto"/>
              <a:buChar char="●"/>
            </a:pP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Purchasing Behavior &amp; Preferences: Amounts spent on various product categories over the last 2 years, including wines, fruits, meat, fish, sweets, and gold.</a:t>
            </a:r>
            <a:endParaRPr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00000"/>
              </a:lnSpc>
              <a:spcBef>
                <a:spcPts val="0"/>
              </a:spcBef>
              <a:spcAft>
                <a:spcPts val="0"/>
              </a:spcAft>
              <a:buClr>
                <a:srgbClr val="0D0D0D"/>
              </a:buClr>
              <a:buSzPts val="1000"/>
              <a:buFont typeface="Roboto"/>
              <a:buChar char="●"/>
            </a:pP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Engagement and Promotional Data: Information on the number of deals purchases, responses to marketing campaigns (AcceptedCmp1-5, Response), and the recency of purchases.</a:t>
            </a:r>
            <a:endParaRPr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00000"/>
              </a:lnSpc>
              <a:spcBef>
                <a:spcPts val="0"/>
              </a:spcBef>
              <a:spcAft>
                <a:spcPts val="0"/>
              </a:spcAft>
              <a:buClr>
                <a:srgbClr val="0D0D0D"/>
              </a:buClr>
              <a:buSzPts val="1000"/>
              <a:buFont typeface="Roboto"/>
              <a:buChar char="●"/>
            </a:pP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Shopping Channels: Data on the number of purchases made through the company's website, catalog, and in stores, as well as the number of website visits in the last month.</a:t>
            </a:r>
            <a:endParaRPr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100000"/>
              </a:lnSpc>
              <a:spcBef>
                <a:spcPts val="1500"/>
              </a:spcBef>
              <a:spcAft>
                <a:spcPts val="0"/>
              </a:spcAft>
              <a:buSzPts val="770"/>
              <a:buNone/>
            </a:pPr>
            <a:r>
              <a:rPr lang="en" sz="1050" b="1"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What Does Each Dataset Represent?</a:t>
            </a:r>
            <a:endParaRPr sz="1050" b="1"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00000"/>
              </a:lnSpc>
              <a:spcBef>
                <a:spcPts val="500"/>
              </a:spcBef>
              <a:spcAft>
                <a:spcPts val="0"/>
              </a:spcAft>
              <a:buClr>
                <a:srgbClr val="0D0D0D"/>
              </a:buClr>
              <a:buSzPts val="1000"/>
              <a:buFont typeface="Roboto"/>
              <a:buChar char="●"/>
            </a:pP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Provides a comprehensive overview of customer profiles, their purchasing habits, responsiveness to marketing efforts, </a:t>
            </a:r>
            <a:r>
              <a:rPr lang="en" sz="1050" dirty="0">
                <a:solidFill>
                  <a:schemeClr val="dk2"/>
                </a:solidFill>
                <a:highlight>
                  <a:schemeClr val="lt1"/>
                </a:highlight>
                <a:latin typeface="Times New Roman" panose="02020603050405020304" pitchFamily="18" charset="0"/>
                <a:ea typeface="Arial"/>
                <a:cs typeface="Times New Roman" panose="02020603050405020304" pitchFamily="18" charset="0"/>
                <a:sym typeface="Arial"/>
              </a:rPr>
              <a:t>individual customer's purchases, interactions, responses to marketing efforts, </a:t>
            </a: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and preferred shopping channels.</a:t>
            </a:r>
            <a:endParaRPr sz="1050" dirty="0">
              <a:solidFill>
                <a:schemeClr val="dk2"/>
              </a:solidFill>
              <a:highlight>
                <a:srgbClr val="FFFFFF"/>
              </a:highlight>
              <a:latin typeface="Times New Roman" panose="02020603050405020304" pitchFamily="18" charset="0"/>
              <a:ea typeface="Arial"/>
              <a:cs typeface="Times New Roman" panose="02020603050405020304" pitchFamily="18" charset="0"/>
              <a:sym typeface="Arial"/>
            </a:endParaRPr>
          </a:p>
          <a:p>
            <a:pPr marL="457200" lvl="0" indent="-292100" algn="l" rtl="0">
              <a:lnSpc>
                <a:spcPct val="100000"/>
              </a:lnSpc>
              <a:spcBef>
                <a:spcPts val="500"/>
              </a:spcBef>
              <a:spcAft>
                <a:spcPts val="0"/>
              </a:spcAft>
              <a:buClr>
                <a:schemeClr val="dk2"/>
              </a:buClr>
              <a:buSzPts val="1000"/>
              <a:buFont typeface="Arial"/>
              <a:buChar char="●"/>
            </a:pPr>
            <a:r>
              <a:rPr lang="en" sz="1050" dirty="0">
                <a:solidFill>
                  <a:schemeClr val="dk2"/>
                </a:solidFill>
                <a:highlight>
                  <a:srgbClr val="FFFFFF"/>
                </a:highlight>
                <a:latin typeface="Times New Roman" panose="02020603050405020304" pitchFamily="18" charset="0"/>
                <a:ea typeface="Arial"/>
                <a:cs typeface="Times New Roman" panose="02020603050405020304" pitchFamily="18" charset="0"/>
                <a:sym typeface="Arial"/>
              </a:rPr>
              <a:t>Data Source: Likely from the company's CRM system, capturing information from both online transactions and in-store activities.</a:t>
            </a:r>
            <a:endParaRPr sz="1050" dirty="0">
              <a:solidFill>
                <a:schemeClr val="dk2"/>
              </a:solidFill>
              <a:highlight>
                <a:srgbClr val="FFFFFF"/>
              </a:highlight>
              <a:latin typeface="Times New Roman" panose="02020603050405020304" pitchFamily="18" charset="0"/>
              <a:ea typeface="Arial"/>
              <a:cs typeface="Times New Roman" panose="02020603050405020304" pitchFamily="18" charset="0"/>
              <a:sym typeface="Arial"/>
            </a:endParaRPr>
          </a:p>
          <a:p>
            <a:pPr marL="0" lvl="0" indent="0" algn="l" rtl="0">
              <a:lnSpc>
                <a:spcPct val="100000"/>
              </a:lnSpc>
              <a:spcBef>
                <a:spcPts val="1200"/>
              </a:spcBef>
              <a:spcAft>
                <a:spcPts val="0"/>
              </a:spcAft>
              <a:buNone/>
            </a:pPr>
            <a:r>
              <a:rPr lang="en" sz="1050" b="1"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Data Gaps and Potential Influence on Outcomes:</a:t>
            </a:r>
            <a:endParaRPr sz="1050" b="1"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00000"/>
              </a:lnSpc>
              <a:spcBef>
                <a:spcPts val="200"/>
              </a:spcBef>
              <a:spcAft>
                <a:spcPts val="0"/>
              </a:spcAft>
              <a:buClr>
                <a:srgbClr val="0D0D0D"/>
              </a:buClr>
              <a:buSzPts val="1000"/>
              <a:buFont typeface="Roboto"/>
              <a:buChar char="●"/>
            </a:pP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Missing Data: Specifics on customer satisfaction or feedback on purchased products are not available. External factors like market trends, and  competitor information,  not included</a:t>
            </a:r>
            <a:endParaRPr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2100" algn="l" rtl="0">
              <a:lnSpc>
                <a:spcPct val="100000"/>
              </a:lnSpc>
              <a:spcBef>
                <a:spcPts val="0"/>
              </a:spcBef>
              <a:spcAft>
                <a:spcPts val="0"/>
              </a:spcAft>
              <a:buClr>
                <a:srgbClr val="0D0D0D"/>
              </a:buClr>
              <a:buSzPts val="1000"/>
              <a:buFont typeface="Roboto"/>
              <a:buChar char="●"/>
            </a:pP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Influence: Without customer satisfaction data, it's challenging to correlate purchasing behavior with satisfaction levels, possibly overlooking insights on customer loyalty and product improvement opportunities.</a:t>
            </a:r>
            <a:endParaRPr sz="1050" dirty="0">
              <a:solidFill>
                <a:schemeClr val="dk2"/>
              </a:solidFill>
              <a:highlight>
                <a:srgbClr val="FFFFFF"/>
              </a:highlight>
              <a:latin typeface="Times New Roman" panose="02020603050405020304" pitchFamily="18" charset="0"/>
              <a:ea typeface="Arial"/>
              <a:cs typeface="Times New Roman" panose="02020603050405020304" pitchFamily="18" charset="0"/>
              <a:sym typeface="Arial"/>
            </a:endParaRPr>
          </a:p>
          <a:p>
            <a:pPr marL="0" lvl="0" indent="0" algn="l" rtl="0">
              <a:lnSpc>
                <a:spcPct val="100000"/>
              </a:lnSpc>
              <a:spcBef>
                <a:spcPts val="1500"/>
              </a:spcBef>
              <a:spcAft>
                <a:spcPts val="0"/>
              </a:spcAft>
              <a:buNone/>
            </a:pPr>
            <a:r>
              <a:rPr lang="en" sz="1050" b="1" dirty="0">
                <a:solidFill>
                  <a:schemeClr val="dk2"/>
                </a:solidFill>
                <a:highlight>
                  <a:srgbClr val="FFFFFF"/>
                </a:highlight>
                <a:latin typeface="Times New Roman" panose="02020603050405020304" pitchFamily="18" charset="0"/>
                <a:ea typeface="Arial"/>
                <a:cs typeface="Times New Roman" panose="02020603050405020304" pitchFamily="18" charset="0"/>
                <a:sym typeface="Arial"/>
              </a:rPr>
              <a:t>Out-of-Scope Deliverables: </a:t>
            </a:r>
            <a:endParaRPr sz="1050" b="1" dirty="0">
              <a:solidFill>
                <a:schemeClr val="dk2"/>
              </a:solidFill>
              <a:highlight>
                <a:srgbClr val="FFFFFF"/>
              </a:highlight>
              <a:latin typeface="Times New Roman" panose="02020603050405020304" pitchFamily="18" charset="0"/>
              <a:ea typeface="Arial"/>
              <a:cs typeface="Times New Roman" panose="02020603050405020304" pitchFamily="18" charset="0"/>
              <a:sym typeface="Arial"/>
            </a:endParaRPr>
          </a:p>
          <a:p>
            <a:pPr marL="457200" lvl="0" indent="-292100" algn="l" rtl="0">
              <a:lnSpc>
                <a:spcPct val="100000"/>
              </a:lnSpc>
              <a:spcBef>
                <a:spcPts val="500"/>
              </a:spcBef>
              <a:spcAft>
                <a:spcPts val="0"/>
              </a:spcAft>
              <a:buClr>
                <a:schemeClr val="dk2"/>
              </a:buClr>
              <a:buSzPts val="1000"/>
              <a:buFont typeface="Arial"/>
              <a:buChar char="●"/>
            </a:pPr>
            <a:r>
              <a:rPr lang="en" sz="1050" dirty="0">
                <a:solidFill>
                  <a:schemeClr val="dk2"/>
                </a:solidFill>
                <a:highlight>
                  <a:srgbClr val="FFFFFF"/>
                </a:highlight>
                <a:latin typeface="Times New Roman" panose="02020603050405020304" pitchFamily="18" charset="0"/>
                <a:ea typeface="Arial"/>
                <a:cs typeface="Times New Roman" panose="02020603050405020304" pitchFamily="18" charset="0"/>
                <a:sym typeface="Arial"/>
              </a:rPr>
              <a:t>Anything requiring data not provided (like external market analysis) or the development of new software tools is out of scope.</a:t>
            </a:r>
            <a:endParaRPr sz="1050" dirty="0">
              <a:solidFill>
                <a:schemeClr val="dk2"/>
              </a:solidFill>
              <a:highlight>
                <a:srgbClr val="FFFFFF"/>
              </a:highlight>
              <a:latin typeface="Times New Roman" panose="02020603050405020304" pitchFamily="18" charset="0"/>
              <a:ea typeface="Arial"/>
              <a:cs typeface="Times New Roman" panose="02020603050405020304" pitchFamily="18" charset="0"/>
              <a:sym typeface="Arial"/>
            </a:endParaRPr>
          </a:p>
          <a:p>
            <a:pPr marL="457200" lvl="0" indent="-292100" algn="l" rtl="0">
              <a:lnSpc>
                <a:spcPct val="100000"/>
              </a:lnSpc>
              <a:spcBef>
                <a:spcPts val="500"/>
              </a:spcBef>
              <a:spcAft>
                <a:spcPts val="0"/>
              </a:spcAft>
              <a:buClr>
                <a:schemeClr val="dk2"/>
              </a:buClr>
              <a:buSzPts val="1000"/>
              <a:buFont typeface="Arial"/>
              <a:buChar char="●"/>
            </a:pPr>
            <a:r>
              <a:rPr lang="en" sz="105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Customer Feedback Analysis: Due to the absence of direct customer feedback or satisfaction data in the dataset, analyzing customer sentiment is out of scope.</a:t>
            </a:r>
            <a:endParaRPr sz="1050" dirty="0">
              <a:solidFill>
                <a:schemeClr val="dk2"/>
              </a:solidFill>
              <a:highlight>
                <a:srgbClr val="FFFFFF"/>
              </a:highlight>
              <a:latin typeface="Times New Roman" panose="02020603050405020304" pitchFamily="18" charset="0"/>
              <a:ea typeface="Arial"/>
              <a:cs typeface="Times New Roman" panose="02020603050405020304" pitchFamily="18" charset="0"/>
              <a:sym typeface="Arial"/>
            </a:endParaRPr>
          </a:p>
          <a:p>
            <a:pPr marL="0" lvl="0" indent="0" algn="l" rtl="0">
              <a:lnSpc>
                <a:spcPct val="100000"/>
              </a:lnSpc>
              <a:spcBef>
                <a:spcPts val="1500"/>
              </a:spcBef>
              <a:spcAft>
                <a:spcPts val="0"/>
              </a:spcAft>
              <a:buSzPts val="770"/>
              <a:buNone/>
            </a:pPr>
            <a:endParaRPr sz="100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100000"/>
              </a:lnSpc>
              <a:spcBef>
                <a:spcPts val="1500"/>
              </a:spcBef>
              <a:spcAft>
                <a:spcPts val="0"/>
              </a:spcAft>
              <a:buClr>
                <a:schemeClr val="dk1"/>
              </a:buClr>
              <a:buSzPts val="770"/>
              <a:buFont typeface="Arial"/>
              <a:buNone/>
            </a:pPr>
            <a:endParaRPr sz="100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100000"/>
              </a:lnSpc>
              <a:spcBef>
                <a:spcPts val="1500"/>
              </a:spcBef>
              <a:spcAft>
                <a:spcPts val="1200"/>
              </a:spcAft>
              <a:buSzPts val="770"/>
              <a:buNone/>
            </a:pP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990"/>
              <a:buFont typeface="Arial"/>
              <a:buNone/>
            </a:pPr>
            <a:r>
              <a:rPr lang="en-US" sz="2400" b="1" dirty="0">
                <a:highlight>
                  <a:srgbClr val="FFFFFF"/>
                </a:highlight>
                <a:latin typeface="Times New Roman" panose="02020603050405020304" pitchFamily="18" charset="0"/>
                <a:cs typeface="Times New Roman" panose="02020603050405020304" pitchFamily="18" charset="0"/>
              </a:rPr>
              <a:t>Proposed Methodology</a:t>
            </a:r>
          </a:p>
          <a:p>
            <a:pPr marL="0" lvl="0" indent="0" algn="l" rtl="0">
              <a:spcBef>
                <a:spcPts val="0"/>
              </a:spcBef>
              <a:spcAft>
                <a:spcPts val="0"/>
              </a:spcAft>
              <a:buSzPts val="990"/>
              <a:buNone/>
            </a:pPr>
            <a:endParaRPr lang="en-US" sz="4000" dirty="0">
              <a:latin typeface="Times New Roman" panose="02020603050405020304" pitchFamily="18" charset="0"/>
              <a:cs typeface="Times New Roman" panose="02020603050405020304" pitchFamily="18" charset="0"/>
            </a:endParaRPr>
          </a:p>
        </p:txBody>
      </p:sp>
      <p:sp>
        <p:nvSpPr>
          <p:cNvPr id="89" name="Google Shape;89;p18"/>
          <p:cNvSpPr txBox="1">
            <a:spLocks noGrp="1"/>
          </p:cNvSpPr>
          <p:nvPr>
            <p:ph type="body" idx="1"/>
          </p:nvPr>
        </p:nvSpPr>
        <p:spPr>
          <a:xfrm>
            <a:off x="522525" y="1014125"/>
            <a:ext cx="8520600" cy="3416400"/>
          </a:xfrm>
          <a:prstGeom prst="rect">
            <a:avLst/>
          </a:prstGeom>
        </p:spPr>
        <p:txBody>
          <a:bodyPr spcFirstLastPara="1" wrap="square" lIns="91425" tIns="91425" rIns="91425" bIns="91425" anchor="t" anchorCtr="0">
            <a:normAutofit/>
          </a:bodyPr>
          <a:lstStyle/>
          <a:p>
            <a:pPr marL="0" lvl="0" indent="0" algn="l" rtl="0">
              <a:spcBef>
                <a:spcPts val="1500"/>
              </a:spcBef>
              <a:spcAft>
                <a:spcPts val="0"/>
              </a:spcAft>
              <a:buNone/>
            </a:pPr>
            <a:r>
              <a:rPr lang="en" sz="1400" dirty="0">
                <a:solidFill>
                  <a:srgbClr val="0D0D0D"/>
                </a:solidFill>
                <a:highlight>
                  <a:srgbClr val="FFFFFF"/>
                </a:highlight>
                <a:latin typeface="Times New Roman" panose="02020603050405020304" pitchFamily="18" charset="0"/>
                <a:ea typeface="Arial"/>
                <a:cs typeface="Times New Roman" panose="02020603050405020304" pitchFamily="18" charset="0"/>
                <a:sym typeface="Arial"/>
              </a:rPr>
              <a:t>Data Preparation and Cleaning: This initial phase involves cleaning the data to ensure accuracy and completeness. It includes handling missing values, correcting data anomalies, and standardizing data formats. This step ensures the data is reliable for analysis.</a:t>
            </a:r>
            <a:endParaRPr sz="1400" dirty="0">
              <a:solidFill>
                <a:srgbClr val="0D0D0D"/>
              </a:solidFill>
              <a:highlight>
                <a:srgbClr val="FFFFFF"/>
              </a:highlight>
              <a:latin typeface="Times New Roman" panose="02020603050405020304" pitchFamily="18" charset="0"/>
              <a:ea typeface="Arial"/>
              <a:cs typeface="Times New Roman" panose="02020603050405020304" pitchFamily="18" charset="0"/>
              <a:sym typeface="Arial"/>
            </a:endParaRPr>
          </a:p>
          <a:p>
            <a:pPr marL="0" lvl="0" indent="0" algn="l" rtl="0">
              <a:spcBef>
                <a:spcPts val="1500"/>
              </a:spcBef>
              <a:spcAft>
                <a:spcPts val="0"/>
              </a:spcAft>
              <a:buNone/>
            </a:pPr>
            <a:r>
              <a:rPr lang="en" sz="1400" dirty="0">
                <a:solidFill>
                  <a:srgbClr val="0D0D0D"/>
                </a:solidFill>
                <a:highlight>
                  <a:srgbClr val="FFFFFF"/>
                </a:highlight>
                <a:latin typeface="Times New Roman" panose="02020603050405020304" pitchFamily="18" charset="0"/>
                <a:ea typeface="Arial"/>
                <a:cs typeface="Times New Roman" panose="02020603050405020304" pitchFamily="18" charset="0"/>
                <a:sym typeface="Arial"/>
              </a:rPr>
              <a:t>Exploratory Data Analysis (EDA): EDA will be conducted to understand the data's underlying structures, patterns, and anomalies. This includes visualizing distributions of key variables, identifying outliers, and understanding relationships between variables. The goal is to gain insights that will guide further analysis.</a:t>
            </a:r>
            <a:endParaRPr sz="1400" dirty="0">
              <a:solidFill>
                <a:srgbClr val="0D0D0D"/>
              </a:solidFill>
              <a:highlight>
                <a:srgbClr val="FFFFFF"/>
              </a:highlight>
              <a:latin typeface="Times New Roman" panose="02020603050405020304" pitchFamily="18" charset="0"/>
              <a:ea typeface="Arial"/>
              <a:cs typeface="Times New Roman" panose="02020603050405020304" pitchFamily="18" charset="0"/>
              <a:sym typeface="Arial"/>
            </a:endParaRPr>
          </a:p>
          <a:p>
            <a:pPr marL="0" lvl="0" indent="0" algn="l" rtl="0">
              <a:spcBef>
                <a:spcPts val="1500"/>
              </a:spcBef>
              <a:spcAft>
                <a:spcPts val="0"/>
              </a:spcAft>
              <a:buClr>
                <a:schemeClr val="dk2"/>
              </a:buClr>
              <a:buSzPts val="1100"/>
              <a:buFont typeface="Arial"/>
              <a:buNone/>
            </a:pPr>
            <a:r>
              <a:rPr lang="en" sz="1400" dirty="0">
                <a:solidFill>
                  <a:srgbClr val="0D0D0D"/>
                </a:solidFill>
                <a:highlight>
                  <a:srgbClr val="FFFFFF"/>
                </a:highlight>
                <a:latin typeface="Times New Roman" panose="02020603050405020304" pitchFamily="18" charset="0"/>
                <a:ea typeface="Arial"/>
                <a:cs typeface="Times New Roman" panose="02020603050405020304" pitchFamily="18" charset="0"/>
                <a:sym typeface="Arial"/>
              </a:rPr>
              <a:t>Principal Component Analysis (PCA) is a statistical technique used to reduce the dimensionality of datasets, enhancing interpretability while minimizing information loss. This method transforms a set of possibly correlated variables into a smaller set of uncorrelated variables, known as principal components.</a:t>
            </a:r>
            <a:endParaRPr sz="1400" dirty="0">
              <a:solidFill>
                <a:srgbClr val="0D0D0D"/>
              </a:solidFill>
              <a:highlight>
                <a:srgbClr val="FFFFFF"/>
              </a:highlight>
              <a:latin typeface="Times New Roman" panose="02020603050405020304" pitchFamily="18" charset="0"/>
              <a:ea typeface="Arial"/>
              <a:cs typeface="Times New Roman" panose="02020603050405020304" pitchFamily="18" charset="0"/>
              <a:sym typeface="Arial"/>
            </a:endParaRPr>
          </a:p>
          <a:p>
            <a:pPr marL="0" lvl="0" indent="0" algn="l" rtl="0">
              <a:spcBef>
                <a:spcPts val="1500"/>
              </a:spcBef>
              <a:spcAft>
                <a:spcPts val="1500"/>
              </a:spcAft>
              <a:buNone/>
            </a:pPr>
            <a:endParaRPr sz="1400" dirty="0">
              <a:solidFill>
                <a:srgbClr val="0D0D0D"/>
              </a:solidFill>
              <a:highlight>
                <a:srgbClr val="FFFFFF"/>
              </a:highlight>
              <a:latin typeface="Times New Roman" panose="02020603050405020304" pitchFamily="18" charset="0"/>
              <a:ea typeface="Arial"/>
              <a:cs typeface="Times New Roman" panose="02020603050405020304" pitchFamily="18" charset="0"/>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990"/>
              <a:buFont typeface="Arial"/>
              <a:buNone/>
            </a:pPr>
            <a:r>
              <a:rPr lang="en" sz="2400" b="1" dirty="0">
                <a:highlight>
                  <a:srgbClr val="FFFFFF"/>
                </a:highlight>
                <a:latin typeface="Times New Roman" panose="02020603050405020304" pitchFamily="18" charset="0"/>
                <a:cs typeface="Times New Roman" panose="02020603050405020304" pitchFamily="18" charset="0"/>
              </a:rPr>
              <a:t>Project Success</a:t>
            </a:r>
            <a:endParaRPr sz="2400" b="1" dirty="0">
              <a:highlight>
                <a:srgbClr val="FFFFFF"/>
              </a:highlight>
              <a:latin typeface="Times New Roman" panose="02020603050405020304" pitchFamily="18" charset="0"/>
              <a:cs typeface="Times New Roman" panose="02020603050405020304" pitchFamily="18" charset="0"/>
            </a:endParaRPr>
          </a:p>
          <a:p>
            <a:pPr marL="0" lvl="0" indent="0" algn="l" rtl="0">
              <a:spcBef>
                <a:spcPts val="0"/>
              </a:spcBef>
              <a:spcAft>
                <a:spcPts val="0"/>
              </a:spcAft>
              <a:buSzPts val="990"/>
              <a:buNone/>
            </a:pPr>
            <a:endParaRPr sz="4000" dirty="0">
              <a:latin typeface="Times New Roman" panose="02020603050405020304" pitchFamily="18" charset="0"/>
              <a:cs typeface="Times New Roman" panose="02020603050405020304" pitchFamily="18" charset="0"/>
            </a:endParaRPr>
          </a:p>
        </p:txBody>
      </p:sp>
      <p:sp>
        <p:nvSpPr>
          <p:cNvPr id="95" name="Google Shape;95;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1500"/>
              </a:spcBef>
              <a:spcAft>
                <a:spcPts val="0"/>
              </a:spcAft>
              <a:buNone/>
            </a:pPr>
            <a:r>
              <a:rPr lang="en" sz="1300" u="sng" dirty="0">
                <a:solidFill>
                  <a:srgbClr val="0D0D0D"/>
                </a:solidFill>
                <a:highlight>
                  <a:srgbClr val="FFFFFF"/>
                </a:highlight>
                <a:latin typeface="Times New Roman" panose="02020603050405020304" pitchFamily="18" charset="0"/>
                <a:cs typeface="Times New Roman" panose="02020603050405020304" pitchFamily="18" charset="0"/>
              </a:rPr>
              <a:t>Impact on Sales and Engagement:</a:t>
            </a:r>
            <a:r>
              <a:rPr lang="en" sz="1300" dirty="0">
                <a:solidFill>
                  <a:srgbClr val="0D0D0D"/>
                </a:solidFill>
                <a:highlight>
                  <a:srgbClr val="FFFFFF"/>
                </a:highlight>
                <a:latin typeface="Times New Roman" panose="02020603050405020304" pitchFamily="18" charset="0"/>
                <a:cs typeface="Times New Roman" panose="02020603050405020304" pitchFamily="18" charset="0"/>
              </a:rPr>
              <a:t> The primary measure of success will be whether the analysis leads to an improvement in sales or customer engagement. This implies that the insights gained from examining the impact of discounts on customer purchasing behavior are effectively translated into actionable strategies. </a:t>
            </a:r>
            <a:endParaRPr sz="130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spcBef>
                <a:spcPts val="1500"/>
              </a:spcBef>
              <a:spcAft>
                <a:spcPts val="0"/>
              </a:spcAft>
              <a:buNone/>
            </a:pPr>
            <a:r>
              <a:rPr lang="en" sz="1300" u="sng" dirty="0">
                <a:solidFill>
                  <a:srgbClr val="0D0D0D"/>
                </a:solidFill>
                <a:highlight>
                  <a:srgbClr val="FFFFFF"/>
                </a:highlight>
                <a:latin typeface="Times New Roman" panose="02020603050405020304" pitchFamily="18" charset="0"/>
                <a:cs typeface="Times New Roman" panose="02020603050405020304" pitchFamily="18" charset="0"/>
              </a:rPr>
              <a:t>Optimizing Discount Strategies:</a:t>
            </a:r>
            <a:r>
              <a:rPr lang="en" sz="1300" dirty="0">
                <a:solidFill>
                  <a:srgbClr val="0D0D0D"/>
                </a:solidFill>
                <a:highlight>
                  <a:srgbClr val="FFFFFF"/>
                </a:highlight>
                <a:latin typeface="Times New Roman" panose="02020603050405020304" pitchFamily="18" charset="0"/>
                <a:cs typeface="Times New Roman" panose="02020603050405020304" pitchFamily="18" charset="0"/>
              </a:rPr>
              <a:t> Success also means finding the right balance between offering discounts and maximizing profit. The project should provide clear guidelines on how to structure discounts to appeal to customers without eroding profit margins. </a:t>
            </a:r>
            <a:endParaRPr sz="130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spcBef>
                <a:spcPts val="1500"/>
              </a:spcBef>
              <a:spcAft>
                <a:spcPts val="0"/>
              </a:spcAft>
              <a:buNone/>
            </a:pPr>
            <a:r>
              <a:rPr lang="en" sz="1300" dirty="0">
                <a:solidFill>
                  <a:srgbClr val="0D0D0D"/>
                </a:solidFill>
                <a:highlight>
                  <a:srgbClr val="FFFFFF"/>
                </a:highlight>
                <a:latin typeface="Times New Roman" panose="02020603050405020304" pitchFamily="18" charset="0"/>
                <a:cs typeface="Times New Roman" panose="02020603050405020304" pitchFamily="18" charset="0"/>
              </a:rPr>
              <a:t>The ultimate outcome of the project should be a set of data-driven recommendations that enable the company to use discounts more strategically to drive sales and build customer relationships, thereby increasing profitability and market competitiveness. This involves not just a one-time boost in sales but fostering a sustainable model for customer engagement and pricing strategy that supports long-term business goals.</a:t>
            </a:r>
            <a:endParaRPr sz="1300" dirty="0">
              <a:solidFill>
                <a:srgbClr val="0D0D0D"/>
              </a:solidFill>
              <a:highlight>
                <a:srgbClr val="FFFFFF"/>
              </a:highlight>
              <a:latin typeface="Times New Roman" panose="02020603050405020304" pitchFamily="18" charset="0"/>
              <a:cs typeface="Times New Roman" panose="02020603050405020304" pitchFamily="18" charset="0"/>
            </a:endParaRPr>
          </a:p>
          <a:p>
            <a:pPr marL="457200" lvl="0" indent="-228600" algn="l" rtl="0">
              <a:spcBef>
                <a:spcPts val="1500"/>
              </a:spcBef>
              <a:spcAft>
                <a:spcPts val="0"/>
              </a:spcAft>
              <a:buClr>
                <a:srgbClr val="0D0D0D"/>
              </a:buClr>
              <a:buSzPts val="1300"/>
              <a:buNone/>
            </a:pPr>
            <a:endParaRPr sz="130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spcBef>
                <a:spcPts val="1500"/>
              </a:spcBef>
              <a:spcAft>
                <a:spcPts val="1200"/>
              </a:spcAft>
              <a:buNone/>
            </a:pPr>
            <a:endParaRPr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311700" y="23063"/>
            <a:ext cx="8520600" cy="6234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990"/>
              <a:buFont typeface="Arial"/>
              <a:buNone/>
            </a:pPr>
            <a:r>
              <a:rPr lang="en" sz="2400" b="1" dirty="0">
                <a:highlight>
                  <a:srgbClr val="FFFFFF"/>
                </a:highlight>
                <a:latin typeface="Times New Roman" panose="02020603050405020304" pitchFamily="18" charset="0"/>
                <a:cs typeface="Times New Roman" panose="02020603050405020304" pitchFamily="18" charset="0"/>
              </a:rPr>
              <a:t>User-Stories</a:t>
            </a:r>
            <a:endParaRPr sz="2400" b="1" dirty="0">
              <a:highlight>
                <a:srgbClr val="FFFFFF"/>
              </a:highlight>
              <a:latin typeface="Times New Roman" panose="02020603050405020304" pitchFamily="18" charset="0"/>
              <a:cs typeface="Times New Roman" panose="02020603050405020304" pitchFamily="18" charset="0"/>
            </a:endParaRPr>
          </a:p>
          <a:p>
            <a:pPr marL="0" lvl="0" indent="0" algn="l" rtl="0">
              <a:spcBef>
                <a:spcPts val="0"/>
              </a:spcBef>
              <a:spcAft>
                <a:spcPts val="0"/>
              </a:spcAft>
              <a:buSzPts val="990"/>
              <a:buNone/>
            </a:pPr>
            <a:endParaRPr sz="3600" dirty="0">
              <a:latin typeface="Times New Roman" panose="02020603050405020304" pitchFamily="18" charset="0"/>
              <a:cs typeface="Times New Roman" panose="02020603050405020304" pitchFamily="18" charset="0"/>
            </a:endParaRPr>
          </a:p>
        </p:txBody>
      </p:sp>
      <p:sp>
        <p:nvSpPr>
          <p:cNvPr id="101" name="Google Shape;101;p20"/>
          <p:cNvSpPr txBox="1">
            <a:spLocks noGrp="1"/>
          </p:cNvSpPr>
          <p:nvPr>
            <p:ph type="body" idx="1"/>
          </p:nvPr>
        </p:nvSpPr>
        <p:spPr>
          <a:xfrm>
            <a:off x="311700" y="646463"/>
            <a:ext cx="8520600" cy="3416400"/>
          </a:xfrm>
          <a:prstGeom prst="rect">
            <a:avLst/>
          </a:prstGeom>
        </p:spPr>
        <p:txBody>
          <a:bodyPr spcFirstLastPara="1" wrap="square" lIns="91425" tIns="91425" rIns="91425" bIns="91425" anchor="t" anchorCtr="0">
            <a:noAutofit/>
          </a:bodyPr>
          <a:lstStyle/>
          <a:p>
            <a:pPr marL="0" lvl="0" indent="0" algn="l" rtl="0">
              <a:lnSpc>
                <a:spcPct val="130000"/>
              </a:lnSpc>
              <a:spcBef>
                <a:spcPts val="1200"/>
              </a:spcBef>
              <a:spcAft>
                <a:spcPts val="0"/>
              </a:spcAft>
              <a:buClr>
                <a:schemeClr val="dk2"/>
              </a:buClr>
              <a:buSzPts val="605"/>
              <a:buFont typeface="Arial"/>
              <a:buNone/>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User Story 1: Marketing Manager - Positive Impact</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20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Scenario: Upon utilizing insights from the EDA report, the marketing manager is able to launch highly targeted promotional campaigns.</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Outcome: Increased campaign conversion rates and better allocation of marketing budget.</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130000"/>
              </a:lnSpc>
              <a:spcBef>
                <a:spcPts val="1500"/>
              </a:spcBef>
              <a:spcAft>
                <a:spcPts val="0"/>
              </a:spcAft>
              <a:buClr>
                <a:schemeClr val="dk2"/>
              </a:buClr>
              <a:buSzPts val="605"/>
              <a:buFont typeface="Arial"/>
              <a:buNone/>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User Story 2: Customer Service Representative - Positive Impact</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20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Scenario: Insights into customer segments enable personalized service approaches, improving customer satisfaction.</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Outcome: Higher customer retention rates and positive feedback.</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130000"/>
              </a:lnSpc>
              <a:spcBef>
                <a:spcPts val="1500"/>
              </a:spcBef>
              <a:spcAft>
                <a:spcPts val="0"/>
              </a:spcAft>
              <a:buClr>
                <a:schemeClr val="dk2"/>
              </a:buClr>
              <a:buSzPts val="605"/>
              <a:buFont typeface="Arial"/>
              <a:buNone/>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User Story 3: Product Development Team - Positive Impact</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20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Scenario: The EDA uncovers a strong preference for certain products among key segments, guiding product innovation.</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Outcome: Successful launch of products tailored to customer preferences, leading to increased sales.</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130000"/>
              </a:lnSpc>
              <a:spcBef>
                <a:spcPts val="1500"/>
              </a:spcBef>
              <a:spcAft>
                <a:spcPts val="0"/>
              </a:spcAft>
              <a:buSzPts val="605"/>
              <a:buNone/>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User Story 4: Customers - Positive Impact</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20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Scenario: Customers benefit from promotions and products that are more closely aligned with their preferences and needs.</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Outcome: Enhanced shopping experience and perception of value, leading to greater loyalty.</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130000"/>
              </a:lnSpc>
              <a:spcBef>
                <a:spcPts val="1500"/>
              </a:spcBef>
              <a:spcAft>
                <a:spcPts val="0"/>
              </a:spcAft>
              <a:buSzPts val="605"/>
              <a:buNone/>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User Story 5 Small Segment Customers - Negative Impact</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20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Scenario: Marketing efforts become so targeted that customers in smaller, less profitable segments feel overlooked.</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457200" lvl="0" indent="-295910" algn="l" rtl="0">
              <a:lnSpc>
                <a:spcPct val="95000"/>
              </a:lnSpc>
              <a:spcBef>
                <a:spcPts val="0"/>
              </a:spcBef>
              <a:spcAft>
                <a:spcPts val="0"/>
              </a:spcAft>
              <a:buClr>
                <a:srgbClr val="0D0D0D"/>
              </a:buClr>
              <a:buSzPts val="1060"/>
              <a:buFont typeface="Roboto"/>
              <a:buChar char="●"/>
            </a:pPr>
            <a:r>
              <a:rPr lang="en"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rPr>
              <a:t>Outcome: Decreased satisfaction among these customers, who may feel the company no longer caters to their needs.</a:t>
            </a: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95000"/>
              </a:lnSpc>
              <a:spcBef>
                <a:spcPts val="1500"/>
              </a:spcBef>
              <a:spcAft>
                <a:spcPts val="0"/>
              </a:spcAft>
              <a:buSzPts val="605"/>
              <a:buNone/>
            </a:pPr>
            <a:endParaRPr sz="1200" dirty="0">
              <a:solidFill>
                <a:srgbClr val="0D0D0D"/>
              </a:solidFill>
              <a:highlight>
                <a:srgbClr val="FFFFFF"/>
              </a:highlight>
              <a:latin typeface="Times New Roman" panose="02020603050405020304" pitchFamily="18" charset="0"/>
              <a:ea typeface="Roboto"/>
              <a:cs typeface="Times New Roman" panose="02020603050405020304" pitchFamily="18" charset="0"/>
              <a:sym typeface="Roboto"/>
            </a:endParaRPr>
          </a:p>
          <a:p>
            <a:pPr marL="0" lvl="0" indent="0" algn="l" rtl="0">
              <a:lnSpc>
                <a:spcPct val="95000"/>
              </a:lnSpc>
              <a:spcBef>
                <a:spcPts val="1500"/>
              </a:spcBef>
              <a:spcAft>
                <a:spcPts val="1200"/>
              </a:spcAft>
              <a:buSzPts val="605"/>
              <a:buNone/>
            </a:pP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ct val="78571"/>
              <a:buFont typeface="Arial"/>
              <a:buNone/>
            </a:pPr>
            <a:r>
              <a:rPr lang="en" sz="2400" b="1" dirty="0">
                <a:highlight>
                  <a:srgbClr val="FFFFFF"/>
                </a:highlight>
                <a:latin typeface="Times New Roman" panose="02020603050405020304" pitchFamily="18" charset="0"/>
                <a:cs typeface="Times New Roman" panose="02020603050405020304" pitchFamily="18" charset="0"/>
              </a:rPr>
              <a:t>Project Plan and Milestones</a:t>
            </a:r>
            <a:endParaRPr sz="2400" b="1" dirty="0">
              <a:highlight>
                <a:srgbClr val="FFFFFF"/>
              </a:highlight>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4400" dirty="0">
              <a:latin typeface="Times New Roman" panose="02020603050405020304" pitchFamily="18" charset="0"/>
              <a:cs typeface="Times New Roman" panose="02020603050405020304" pitchFamily="18" charset="0"/>
            </a:endParaRPr>
          </a:p>
        </p:txBody>
      </p:sp>
      <p:sp>
        <p:nvSpPr>
          <p:cNvPr id="107" name="Google Shape;107;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228600" algn="l" rtl="0">
              <a:spcBef>
                <a:spcPts val="0"/>
              </a:spcBef>
              <a:spcAft>
                <a:spcPts val="0"/>
              </a:spcAft>
              <a:buClr>
                <a:srgbClr val="0D0D0D"/>
              </a:buClr>
              <a:buSzPts val="1200"/>
              <a:buNone/>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Phase 1 - Data Preparation and Preliminary Analysis</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Success: Clean, comprehensive datasets ready for analysis.</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Involvement: Data analysts,data extraction and cleaning.</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Demo: Presentation of data quality and initial insights.</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457200" lvl="0" indent="-228600" algn="l" rtl="0">
              <a:spcBef>
                <a:spcPts val="0"/>
              </a:spcBef>
              <a:spcAft>
                <a:spcPts val="0"/>
              </a:spcAft>
              <a:buClr>
                <a:srgbClr val="0D0D0D"/>
              </a:buClr>
              <a:buSzPts val="1200"/>
              <a:buNone/>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Phase 2 - Detailed Analysis and Modeling</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Success: Identification of key correlations</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Involvement: Data scientists, marketing analysts.</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Demo: Initial model results and findings report.</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457200" lvl="0" indent="-228600" algn="l" rtl="0">
              <a:spcBef>
                <a:spcPts val="0"/>
              </a:spcBef>
              <a:spcAft>
                <a:spcPts val="0"/>
              </a:spcAft>
              <a:buClr>
                <a:srgbClr val="0D0D0D"/>
              </a:buClr>
              <a:buSzPts val="1200"/>
              <a:buNone/>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Phase 3 - Strategy Development and Recommendations</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Success: Comprehensive set of actionable recommendations for discount optimization.</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Involvement: Marketing team, sales department.</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Demo: Strategy presentation and discussion.</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457200" lvl="0" indent="-228600" algn="l" rtl="0">
              <a:spcBef>
                <a:spcPts val="0"/>
              </a:spcBef>
              <a:spcAft>
                <a:spcPts val="0"/>
              </a:spcAft>
              <a:buClr>
                <a:srgbClr val="0D0D0D"/>
              </a:buClr>
              <a:buSzPts val="1200"/>
              <a:buNone/>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Phase 4 - Implementation (Post-Project)</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Success: Implementation of recommendations and positive impact on sales and customer engagement.</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Involvement: Marketing and sales departments, with ongoing analysis.</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D0D0D"/>
              </a:buClr>
              <a:buSzPts val="1200"/>
              <a:buChar char="●"/>
            </a:pPr>
            <a:r>
              <a:rPr lang="en" sz="1200" dirty="0">
                <a:solidFill>
                  <a:srgbClr val="0D0D0D"/>
                </a:solidFill>
                <a:highlight>
                  <a:srgbClr val="FFFFFF"/>
                </a:highlight>
                <a:latin typeface="Times New Roman" panose="02020603050405020304" pitchFamily="18" charset="0"/>
                <a:cs typeface="Times New Roman" panose="02020603050405020304" pitchFamily="18" charset="0"/>
              </a:rPr>
              <a:t>Demo: Review of sales performance and adjustments to strategies as needed.</a:t>
            </a:r>
            <a:endParaRPr sz="1200" dirty="0">
              <a:solidFill>
                <a:srgbClr val="0D0D0D"/>
              </a:solidFill>
              <a:highlight>
                <a:srgbClr val="FFFFFF"/>
              </a:highlight>
              <a:latin typeface="Times New Roman" panose="02020603050405020304" pitchFamily="18" charset="0"/>
              <a:cs typeface="Times New Roman" panose="02020603050405020304" pitchFamily="18" charset="0"/>
            </a:endParaRPr>
          </a:p>
          <a:p>
            <a:pPr marL="0" lvl="0" indent="0" algn="l" rtl="0">
              <a:spcBef>
                <a:spcPts val="1500"/>
              </a:spcBef>
              <a:spcAft>
                <a:spcPts val="1200"/>
              </a:spcAft>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990"/>
              <a:buFont typeface="Arial"/>
              <a:buNone/>
            </a:pPr>
            <a:r>
              <a:rPr lang="en-US" sz="2400" b="1" dirty="0">
                <a:highlight>
                  <a:srgbClr val="FFFFFF"/>
                </a:highlight>
                <a:latin typeface="Times New Roman" panose="02020603050405020304" pitchFamily="18" charset="0"/>
                <a:cs typeface="Times New Roman" panose="02020603050405020304" pitchFamily="18" charset="0"/>
              </a:rPr>
              <a:t>Project Roles and Responsibilities</a:t>
            </a:r>
          </a:p>
          <a:p>
            <a:pPr marL="0" lvl="0" indent="0" algn="l" rtl="0">
              <a:spcBef>
                <a:spcPts val="0"/>
              </a:spcBef>
              <a:spcAft>
                <a:spcPts val="0"/>
              </a:spcAft>
              <a:buSzPts val="990"/>
              <a:buNone/>
            </a:pPr>
            <a:endParaRPr lang="en-US" sz="4000" dirty="0">
              <a:latin typeface="Times New Roman" panose="02020603050405020304" pitchFamily="18" charset="0"/>
              <a:cs typeface="Times New Roman" panose="02020603050405020304" pitchFamily="18" charset="0"/>
            </a:endParaRPr>
          </a:p>
        </p:txBody>
      </p:sp>
      <p:graphicFrame>
        <p:nvGraphicFramePr>
          <p:cNvPr id="113" name="Google Shape;113;p22"/>
          <p:cNvGraphicFramePr/>
          <p:nvPr>
            <p:extLst>
              <p:ext uri="{D42A27DB-BD31-4B8C-83A1-F6EECF244321}">
                <p14:modId xmlns:p14="http://schemas.microsoft.com/office/powerpoint/2010/main" val="2668793367"/>
              </p:ext>
            </p:extLst>
          </p:nvPr>
        </p:nvGraphicFramePr>
        <p:xfrm>
          <a:off x="886625" y="1651625"/>
          <a:ext cx="7239000" cy="1584840"/>
        </p:xfrm>
        <a:graphic>
          <a:graphicData uri="http://schemas.openxmlformats.org/drawingml/2006/table">
            <a:tbl>
              <a:tblPr>
                <a:noFill/>
                <a:tableStyleId>{DE4414D4-41A6-4A18-939E-C44998C79D95}</a:tableStyleId>
              </a:tblPr>
              <a:tblGrid>
                <a:gridCol w="2413000">
                  <a:extLst>
                    <a:ext uri="{9D8B030D-6E8A-4147-A177-3AD203B41FA5}">
                      <a16:colId xmlns:a16="http://schemas.microsoft.com/office/drawing/2014/main" val="20000"/>
                    </a:ext>
                  </a:extLst>
                </a:gridCol>
                <a:gridCol w="1727850">
                  <a:extLst>
                    <a:ext uri="{9D8B030D-6E8A-4147-A177-3AD203B41FA5}">
                      <a16:colId xmlns:a16="http://schemas.microsoft.com/office/drawing/2014/main" val="20001"/>
                    </a:ext>
                  </a:extLst>
                </a:gridCol>
                <a:gridCol w="309815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b="1" dirty="0">
                          <a:latin typeface="Times New Roman" panose="02020603050405020304" pitchFamily="18" charset="0"/>
                          <a:cs typeface="Times New Roman" panose="02020603050405020304" pitchFamily="18" charset="0"/>
                        </a:rPr>
                        <a:t>Name</a:t>
                      </a:r>
                      <a:endParaRPr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b="1" dirty="0">
                          <a:latin typeface="Times New Roman" panose="02020603050405020304" pitchFamily="18" charset="0"/>
                          <a:cs typeface="Times New Roman" panose="02020603050405020304" pitchFamily="18" charset="0"/>
                        </a:rPr>
                        <a:t>Role</a:t>
                      </a:r>
                      <a:endParaRPr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b="1" dirty="0">
                          <a:latin typeface="Times New Roman" panose="02020603050405020304" pitchFamily="18" charset="0"/>
                          <a:cs typeface="Times New Roman" panose="02020603050405020304" pitchFamily="18" charset="0"/>
                        </a:rPr>
                        <a:t>Responsibilities</a:t>
                      </a:r>
                      <a:endParaRPr b="1"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Siddhant Gadhe</a:t>
                      </a:r>
                      <a:endParaRPr>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Data Analyst</a:t>
                      </a:r>
                      <a:endParaRPr>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Data Preparation and Cleaning</a:t>
                      </a:r>
                      <a:endParaRPr>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Kshitij Kamat</a:t>
                      </a:r>
                      <a:endParaRPr>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Data Analyst</a:t>
                      </a:r>
                      <a:endParaRPr>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Exploratory Data Analysis (EDA)</a:t>
                      </a:r>
                      <a:endParaRPr>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Shilong Ye</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Data Analyst</a:t>
                      </a:r>
                      <a:endParaRPr>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Principal Component Analysis (PCA):</a:t>
                      </a:r>
                      <a:endParaRPr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1562</Words>
  <Application>Microsoft Office PowerPoint</Application>
  <PresentationFormat>On-screen Show (16:9)</PresentationFormat>
  <Paragraphs>109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Roboto</vt:lpstr>
      <vt:lpstr>Raleway</vt:lpstr>
      <vt:lpstr>Arial</vt:lpstr>
      <vt:lpstr>Times New Roman</vt:lpstr>
      <vt:lpstr>Source Sans Pro</vt:lpstr>
      <vt:lpstr>Plum</vt:lpstr>
      <vt:lpstr>Project Brief - Customer Personality Analysis</vt:lpstr>
      <vt:lpstr>Project Summary </vt:lpstr>
      <vt:lpstr>Team and Sponsor Expectations: Gain deep insights into customer purchasing behavior influenced by discounts. Understand the effectiveness of discount strategies on various customer segments. Current Gaps and Problems: Limited understanding of how discounts impact customer purchasing patterns. Inefficiencies in targeting the right customer segments with promotional offers. Lack of data-driven insights to guide marketing and sales strategies. What EDA Aims to Solve: Identify Patterns and Trends: Uncover hidden patterns in customer behavior that are not apparent without in-depth data analysis. Spot Anomalies: Identify outliers in purchasing behavior that may indicate opportunities or issues with current marketing strategies. Understand Customer Segments: Provide a clearer picture of how different segments react to discounts and promotions. Guide Resource Allocation: Help in optimizing marketing spend by focusing on the most responsive customer segments. Expected Benefits: Enhanced targeting of marketing campaigns to increase effectiveness and ROI. Better product placement and promotional offers aligned with customer preferences and behaviors. Strategic insights that enable the company to adapt to customer needs more dynamically. </vt:lpstr>
      <vt:lpstr>Project Deliverables </vt:lpstr>
      <vt:lpstr>Data Summary</vt:lpstr>
      <vt:lpstr>Proposed Methodology </vt:lpstr>
      <vt:lpstr>Project Success </vt:lpstr>
      <vt:lpstr>User-Stories </vt:lpstr>
      <vt:lpstr>Project Plan and Milestones </vt:lpstr>
      <vt:lpstr>Project Roles and Responsibilities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Brief - Customer Personality Analysis</dc:title>
  <cp:lastModifiedBy>Kshitij Kamat</cp:lastModifiedBy>
  <cp:revision>3</cp:revision>
  <dcterms:modified xsi:type="dcterms:W3CDTF">2024-02-24T01:52:30Z</dcterms:modified>
</cp:coreProperties>
</file>