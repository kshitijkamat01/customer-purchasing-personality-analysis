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61" r:id="rId4"/>
    <p:sldId id="285" r:id="rId5"/>
    <p:sldId id="275" r:id="rId6"/>
    <p:sldId id="259" r:id="rId7"/>
    <p:sldId id="270" r:id="rId8"/>
    <p:sldId id="272" r:id="rId9"/>
    <p:sldId id="271" r:id="rId10"/>
    <p:sldId id="260" r:id="rId11"/>
    <p:sldId id="273" r:id="rId12"/>
    <p:sldId id="274" r:id="rId13"/>
    <p:sldId id="279" r:id="rId14"/>
    <p:sldId id="276" r:id="rId15"/>
    <p:sldId id="283" r:id="rId16"/>
    <p:sldId id="27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8" autoAdjust="0"/>
    <p:restoredTop sz="90526" autoAdjust="0"/>
  </p:normalViewPr>
  <p:slideViewPr>
    <p:cSldViewPr snapToGrid="0">
      <p:cViewPr varScale="1">
        <p:scale>
          <a:sx n="70" d="100"/>
          <a:sy n="70" d="100"/>
        </p:scale>
        <p:origin x="520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9" d="100"/>
          <a:sy n="69" d="100"/>
        </p:scale>
        <p:origin x="278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156040-AF98-4F2C-9909-9F2439F6F588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74020AF3-C700-4606-8917-C6A353D7963A}">
      <dgm:prSet phldrT="[Text]"/>
      <dgm:spPr/>
      <dgm:t>
        <a:bodyPr/>
        <a:lstStyle/>
        <a:p>
          <a:r>
            <a:rPr lang="en-US" dirty="0"/>
            <a:t>Data Preparation &amp; Cleaning</a:t>
          </a:r>
        </a:p>
      </dgm:t>
      <dgm:extLst>
        <a:ext uri="{E40237B7-FDA0-4F09-8148-C483321AD2D9}">
          <dgm14:cNvPr xmlns:dgm14="http://schemas.microsoft.com/office/drawing/2010/diagram" id="0" name="" title="Step 1 title"/>
        </a:ext>
      </dgm:extLst>
    </dgm:pt>
    <dgm:pt modelId="{87D99D21-0B4A-4259-89FB-0E5941CB535C}" type="parTrans" cxnId="{B0E2386F-A443-4201-8130-FB9CC25AA154}">
      <dgm:prSet/>
      <dgm:spPr/>
      <dgm:t>
        <a:bodyPr/>
        <a:lstStyle/>
        <a:p>
          <a:endParaRPr lang="en-US"/>
        </a:p>
      </dgm:t>
    </dgm:pt>
    <dgm:pt modelId="{6CFF1BD9-AE1F-4488-8B72-01186EADA6FF}" type="sibTrans" cxnId="{B0E2386F-A443-4201-8130-FB9CC25AA154}">
      <dgm:prSet/>
      <dgm:spPr/>
      <dgm:t>
        <a:bodyPr/>
        <a:lstStyle/>
        <a:p>
          <a:endParaRPr lang="en-US"/>
        </a:p>
      </dgm:t>
    </dgm:pt>
    <dgm:pt modelId="{12E26E22-71B0-4386-A84F-ABF2FF66A99F}">
      <dgm:prSet phldrT="[Text]"/>
      <dgm:spPr/>
      <dgm:t>
        <a:bodyPr/>
        <a:lstStyle/>
        <a:p>
          <a:r>
            <a:rPr lang="en-US" dirty="0"/>
            <a:t>EDA</a:t>
          </a:r>
        </a:p>
      </dgm:t>
      <dgm:extLst>
        <a:ext uri="{E40237B7-FDA0-4F09-8148-C483321AD2D9}">
          <dgm14:cNvPr xmlns:dgm14="http://schemas.microsoft.com/office/drawing/2010/diagram" id="0" name="" title="Step 2 title"/>
        </a:ext>
      </dgm:extLst>
    </dgm:pt>
    <dgm:pt modelId="{3A6CB3CB-0F71-4CA8-93AA-0E3E3D59D313}" type="parTrans" cxnId="{937639B3-2352-48E4-A96B-F63DF2119D92}">
      <dgm:prSet/>
      <dgm:spPr/>
      <dgm:t>
        <a:bodyPr/>
        <a:lstStyle/>
        <a:p>
          <a:endParaRPr lang="en-US"/>
        </a:p>
      </dgm:t>
    </dgm:pt>
    <dgm:pt modelId="{E1826C46-15A2-4345-B986-53D05F21F155}" type="sibTrans" cxnId="{937639B3-2352-48E4-A96B-F63DF2119D92}">
      <dgm:prSet/>
      <dgm:spPr/>
      <dgm:t>
        <a:bodyPr/>
        <a:lstStyle/>
        <a:p>
          <a:endParaRPr lang="en-US"/>
        </a:p>
      </dgm:t>
    </dgm:pt>
    <dgm:pt modelId="{42147153-A6C2-4177-BA7D-2ACCC2C1B2F7}">
      <dgm:prSet phldrT="[Text]"/>
      <dgm:spPr/>
      <dgm:t>
        <a:bodyPr/>
        <a:lstStyle/>
        <a:p>
          <a:r>
            <a:rPr lang="en-US" dirty="0"/>
            <a:t>Strategic Recommendation</a:t>
          </a:r>
        </a:p>
      </dgm:t>
      <dgm:extLst>
        <a:ext uri="{E40237B7-FDA0-4F09-8148-C483321AD2D9}">
          <dgm14:cNvPr xmlns:dgm14="http://schemas.microsoft.com/office/drawing/2010/diagram" id="0" name="" title="Step 4 title"/>
        </a:ext>
      </dgm:extLst>
    </dgm:pt>
    <dgm:pt modelId="{C6F68745-4C20-4204-96A6-585691399C14}" type="parTrans" cxnId="{777DC3C6-D336-4C94-A624-E5582A07ECAA}">
      <dgm:prSet/>
      <dgm:spPr/>
      <dgm:t>
        <a:bodyPr/>
        <a:lstStyle/>
        <a:p>
          <a:endParaRPr lang="en-US"/>
        </a:p>
      </dgm:t>
    </dgm:pt>
    <dgm:pt modelId="{0C6B132F-0347-46BA-86A4-3FAFB6676411}" type="sibTrans" cxnId="{777DC3C6-D336-4C94-A624-E5582A07ECAA}">
      <dgm:prSet/>
      <dgm:spPr/>
      <dgm:t>
        <a:bodyPr/>
        <a:lstStyle/>
        <a:p>
          <a:endParaRPr lang="en-US"/>
        </a:p>
      </dgm:t>
    </dgm:pt>
    <dgm:pt modelId="{1C61A9A2-33F2-469B-8AC4-A104A5A98D78}" type="pres">
      <dgm:prSet presAssocID="{44156040-AF98-4F2C-9909-9F2439F6F588}" presName="Name0" presStyleCnt="0">
        <dgm:presLayoutVars>
          <dgm:dir/>
          <dgm:animLvl val="lvl"/>
          <dgm:resizeHandles val="exact"/>
        </dgm:presLayoutVars>
      </dgm:prSet>
      <dgm:spPr/>
    </dgm:pt>
    <dgm:pt modelId="{881B8FEC-9D20-4669-BB2E-FA9CEA0BE5A9}" type="pres">
      <dgm:prSet presAssocID="{74020AF3-C700-4606-8917-C6A353D7963A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705DFC51-4C30-4A07-9F0C-6EB770961C6F}" type="pres">
      <dgm:prSet presAssocID="{6CFF1BD9-AE1F-4488-8B72-01186EADA6FF}" presName="parTxOnlySpace" presStyleCnt="0"/>
      <dgm:spPr/>
    </dgm:pt>
    <dgm:pt modelId="{919A589F-F74A-40C3-BE88-AB8730BCAB04}" type="pres">
      <dgm:prSet presAssocID="{12E26E22-71B0-4386-A84F-ABF2FF66A99F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01C6BCDE-530E-4D03-9CF5-9AB36CDC1FE1}" type="pres">
      <dgm:prSet presAssocID="{E1826C46-15A2-4345-B986-53D05F21F155}" presName="parTxOnlySpace" presStyleCnt="0"/>
      <dgm:spPr/>
    </dgm:pt>
    <dgm:pt modelId="{BDD0B0F7-A87C-4B5B-A4C3-4E4BE6EB0FE4}" type="pres">
      <dgm:prSet presAssocID="{42147153-A6C2-4177-BA7D-2ACCC2C1B2F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F4A375F-A05B-45C3-9731-23DBACB9FC02}" type="presOf" srcId="{12E26E22-71B0-4386-A84F-ABF2FF66A99F}" destId="{919A589F-F74A-40C3-BE88-AB8730BCAB04}" srcOrd="0" destOrd="0" presId="urn:microsoft.com/office/officeart/2005/8/layout/chevron1"/>
    <dgm:cxn modelId="{B0E2386F-A443-4201-8130-FB9CC25AA154}" srcId="{44156040-AF98-4F2C-9909-9F2439F6F588}" destId="{74020AF3-C700-4606-8917-C6A353D7963A}" srcOrd="0" destOrd="0" parTransId="{87D99D21-0B4A-4259-89FB-0E5941CB535C}" sibTransId="{6CFF1BD9-AE1F-4488-8B72-01186EADA6FF}"/>
    <dgm:cxn modelId="{BB4F9699-C9DE-46C4-A04B-CD52EF57D4C5}" type="presOf" srcId="{74020AF3-C700-4606-8917-C6A353D7963A}" destId="{881B8FEC-9D20-4669-BB2E-FA9CEA0BE5A9}" srcOrd="0" destOrd="0" presId="urn:microsoft.com/office/officeart/2005/8/layout/chevron1"/>
    <dgm:cxn modelId="{937639B3-2352-48E4-A96B-F63DF2119D92}" srcId="{44156040-AF98-4F2C-9909-9F2439F6F588}" destId="{12E26E22-71B0-4386-A84F-ABF2FF66A99F}" srcOrd="1" destOrd="0" parTransId="{3A6CB3CB-0F71-4CA8-93AA-0E3E3D59D313}" sibTransId="{E1826C46-15A2-4345-B986-53D05F21F155}"/>
    <dgm:cxn modelId="{37A858B6-D71C-4E86-A467-E8D17167DE19}" type="presOf" srcId="{42147153-A6C2-4177-BA7D-2ACCC2C1B2F7}" destId="{BDD0B0F7-A87C-4B5B-A4C3-4E4BE6EB0FE4}" srcOrd="0" destOrd="0" presId="urn:microsoft.com/office/officeart/2005/8/layout/chevron1"/>
    <dgm:cxn modelId="{777DC3C6-D336-4C94-A624-E5582A07ECAA}" srcId="{44156040-AF98-4F2C-9909-9F2439F6F588}" destId="{42147153-A6C2-4177-BA7D-2ACCC2C1B2F7}" srcOrd="2" destOrd="0" parTransId="{C6F68745-4C20-4204-96A6-585691399C14}" sibTransId="{0C6B132F-0347-46BA-86A4-3FAFB6676411}"/>
    <dgm:cxn modelId="{383A5CFE-2D64-4002-A7C0-1E621409BFD6}" type="presOf" srcId="{44156040-AF98-4F2C-9909-9F2439F6F588}" destId="{1C61A9A2-33F2-469B-8AC4-A104A5A98D78}" srcOrd="0" destOrd="0" presId="urn:microsoft.com/office/officeart/2005/8/layout/chevron1"/>
    <dgm:cxn modelId="{EDA037DE-3D60-46A9-9DDB-074A05981F8D}" type="presParOf" srcId="{1C61A9A2-33F2-469B-8AC4-A104A5A98D78}" destId="{881B8FEC-9D20-4669-BB2E-FA9CEA0BE5A9}" srcOrd="0" destOrd="0" presId="urn:microsoft.com/office/officeart/2005/8/layout/chevron1"/>
    <dgm:cxn modelId="{8F2A48B2-4519-4F7D-931D-1EB2DDCF4663}" type="presParOf" srcId="{1C61A9A2-33F2-469B-8AC4-A104A5A98D78}" destId="{705DFC51-4C30-4A07-9F0C-6EB770961C6F}" srcOrd="1" destOrd="0" presId="urn:microsoft.com/office/officeart/2005/8/layout/chevron1"/>
    <dgm:cxn modelId="{A8C49188-74D0-46A6-A671-569711775D6B}" type="presParOf" srcId="{1C61A9A2-33F2-469B-8AC4-A104A5A98D78}" destId="{919A589F-F74A-40C3-BE88-AB8730BCAB04}" srcOrd="2" destOrd="0" presId="urn:microsoft.com/office/officeart/2005/8/layout/chevron1"/>
    <dgm:cxn modelId="{DF828B00-7F32-4A0D-9D43-9FD5AE3C854B}" type="presParOf" srcId="{1C61A9A2-33F2-469B-8AC4-A104A5A98D78}" destId="{01C6BCDE-530E-4D03-9CF5-9AB36CDC1FE1}" srcOrd="3" destOrd="0" presId="urn:microsoft.com/office/officeart/2005/8/layout/chevron1"/>
    <dgm:cxn modelId="{3065F5B9-06B1-4353-A251-703F2693DE95}" type="presParOf" srcId="{1C61A9A2-33F2-469B-8AC4-A104A5A98D78}" destId="{BDD0B0F7-A87C-4B5B-A4C3-4E4BE6EB0FE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B8FEC-9D20-4669-BB2E-FA9CEA0BE5A9}">
      <dsp:nvSpPr>
        <dsp:cNvPr id="0" name=""/>
        <dsp:cNvSpPr/>
      </dsp:nvSpPr>
      <dsp:spPr>
        <a:xfrm>
          <a:off x="2812" y="1486301"/>
          <a:ext cx="3426990" cy="137079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Preparation &amp; Cleaning</a:t>
          </a:r>
        </a:p>
      </dsp:txBody>
      <dsp:txXfrm>
        <a:off x="688210" y="1486301"/>
        <a:ext cx="2056194" cy="1370796"/>
      </dsp:txXfrm>
    </dsp:sp>
    <dsp:sp modelId="{919A589F-F74A-40C3-BE88-AB8730BCAB04}">
      <dsp:nvSpPr>
        <dsp:cNvPr id="0" name=""/>
        <dsp:cNvSpPr/>
      </dsp:nvSpPr>
      <dsp:spPr>
        <a:xfrm>
          <a:off x="3087104" y="1486301"/>
          <a:ext cx="3426990" cy="137079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EDA</a:t>
          </a:r>
        </a:p>
      </dsp:txBody>
      <dsp:txXfrm>
        <a:off x="3772502" y="1486301"/>
        <a:ext cx="2056194" cy="1370796"/>
      </dsp:txXfrm>
    </dsp:sp>
    <dsp:sp modelId="{BDD0B0F7-A87C-4B5B-A4C3-4E4BE6EB0FE4}">
      <dsp:nvSpPr>
        <dsp:cNvPr id="0" name=""/>
        <dsp:cNvSpPr/>
      </dsp:nvSpPr>
      <dsp:spPr>
        <a:xfrm>
          <a:off x="6171396" y="1486301"/>
          <a:ext cx="3426990" cy="137079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Strategic Recommendation</a:t>
          </a:r>
        </a:p>
      </dsp:txBody>
      <dsp:txXfrm>
        <a:off x="6856794" y="1486301"/>
        <a:ext cx="2056194" cy="1370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D5444-F62C-42C3-A75A-D9DBA807730F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F617-7A30-41D4-AB86-5D833C98E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624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AA1FA-7B6A-47D2-8D61-F225D71B51FF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A179D-2D27-49E2-B022-8EDDA2EFE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3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9A179D-2D27-49E2-B022-8EDDA2EFE6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22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 noChangeArrowheads="1"/>
          </p:cNvSpPr>
          <p:nvPr/>
        </p:nvSpPr>
        <p:spPr bwMode="white">
          <a:xfrm>
            <a:off x="8429022" y="0"/>
            <a:ext cx="3762978" cy="6858000"/>
          </a:xfrm>
          <a:custGeom>
            <a:avLst/>
            <a:gdLst>
              <a:gd name="connsiteX0" fmla="*/ 0 w 3762978"/>
              <a:gd name="connsiteY0" fmla="*/ 0 h 6858000"/>
              <a:gd name="connsiteX1" fmla="*/ 3762978 w 3762978"/>
              <a:gd name="connsiteY1" fmla="*/ 0 h 6858000"/>
              <a:gd name="connsiteX2" fmla="*/ 3762978 w 3762978"/>
              <a:gd name="connsiteY2" fmla="*/ 6858000 h 6858000"/>
              <a:gd name="connsiteX3" fmla="*/ 338667 w 3762978"/>
              <a:gd name="connsiteY3" fmla="*/ 6858000 h 6858000"/>
              <a:gd name="connsiteX4" fmla="*/ 1189567 w 3762978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62978" h="6858000">
                <a:moveTo>
                  <a:pt x="0" y="0"/>
                </a:moveTo>
                <a:lnTo>
                  <a:pt x="3762978" y="0"/>
                </a:lnTo>
                <a:lnTo>
                  <a:pt x="3762978" y="6858000"/>
                </a:lnTo>
                <a:lnTo>
                  <a:pt x="338667" y="6858000"/>
                </a:lnTo>
                <a:lnTo>
                  <a:pt x="1189567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80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>
            <a:off x="8145385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950653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873584"/>
            <a:ext cx="640080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572000"/>
            <a:ext cx="6400800" cy="1600200"/>
          </a:xfrm>
        </p:spPr>
        <p:txBody>
          <a:bodyPr/>
          <a:lstStyle>
            <a:lvl1pPr marL="0" indent="0" algn="l">
              <a:spcBef>
                <a:spcPts val="120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258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82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white">
          <a:xfrm>
            <a:off x="6540503" y="0"/>
            <a:ext cx="5651496" cy="6858000"/>
          </a:xfrm>
          <a:custGeom>
            <a:avLst/>
            <a:gdLst/>
            <a:ahLst/>
            <a:cxnLst/>
            <a:rect l="l" t="t" r="r" b="b"/>
            <a:pathLst>
              <a:path w="4238622" h="6858000">
                <a:moveTo>
                  <a:pt x="0" y="0"/>
                </a:moveTo>
                <a:lnTo>
                  <a:pt x="4086222" y="0"/>
                </a:lnTo>
                <a:lnTo>
                  <a:pt x="4237035" y="0"/>
                </a:lnTo>
                <a:lnTo>
                  <a:pt x="4238622" y="0"/>
                </a:lnTo>
                <a:lnTo>
                  <a:pt x="4238622" y="6858000"/>
                </a:lnTo>
                <a:lnTo>
                  <a:pt x="4237035" y="6858000"/>
                </a:lnTo>
                <a:lnTo>
                  <a:pt x="4086222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Freeform 6"/>
          <p:cNvSpPr>
            <a:spLocks/>
          </p:cNvSpPr>
          <p:nvPr/>
        </p:nvSpPr>
        <p:spPr bwMode="auto">
          <a:xfrm>
            <a:off x="6256868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2" name="Freeform 7"/>
          <p:cNvSpPr>
            <a:spLocks/>
          </p:cNvSpPr>
          <p:nvPr/>
        </p:nvSpPr>
        <p:spPr bwMode="auto">
          <a:xfrm>
            <a:off x="6062136" y="0"/>
            <a:ext cx="1528232" cy="6858000"/>
          </a:xfrm>
          <a:custGeom>
            <a:avLst/>
            <a:gdLst/>
            <a:ahLst/>
            <a:cxnLst/>
            <a:rect l="l" t="t" r="r" b="b"/>
            <a:pathLst>
              <a:path w="1146174" h="6858000">
                <a:moveTo>
                  <a:pt x="0" y="0"/>
                </a:moveTo>
                <a:lnTo>
                  <a:pt x="253999" y="0"/>
                </a:lnTo>
                <a:lnTo>
                  <a:pt x="1146174" y="4337050"/>
                </a:lnTo>
                <a:lnTo>
                  <a:pt x="51117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1778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1873584"/>
            <a:ext cx="5120640" cy="256032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 descr="An empty placeholder to add an image. Click on the placeholder and select the image that you wish to add"/>
          <p:cNvSpPr>
            <a:spLocks noGrp="1"/>
          </p:cNvSpPr>
          <p:nvPr>
            <p:ph type="pic" sz="quarter" idx="10"/>
          </p:nvPr>
        </p:nvSpPr>
        <p:spPr>
          <a:xfrm>
            <a:off x="6743703" y="0"/>
            <a:ext cx="5448297" cy="6858000"/>
          </a:xfrm>
          <a:custGeom>
            <a:avLst/>
            <a:gdLst>
              <a:gd name="connsiteX0" fmla="*/ 0 w 5448297"/>
              <a:gd name="connsiteY0" fmla="*/ 0 h 6858000"/>
              <a:gd name="connsiteX1" fmla="*/ 5448297 w 5448297"/>
              <a:gd name="connsiteY1" fmla="*/ 0 h 6858000"/>
              <a:gd name="connsiteX2" fmla="*/ 5448297 w 5448297"/>
              <a:gd name="connsiteY2" fmla="*/ 6858000 h 6858000"/>
              <a:gd name="connsiteX3" fmla="*/ 338667 w 5448297"/>
              <a:gd name="connsiteY3" fmla="*/ 6858000 h 6858000"/>
              <a:gd name="connsiteX4" fmla="*/ 1185333 w 5448297"/>
              <a:gd name="connsiteY4" fmla="*/ 43370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48297" h="6858000">
                <a:moveTo>
                  <a:pt x="0" y="0"/>
                </a:moveTo>
                <a:lnTo>
                  <a:pt x="5448297" y="0"/>
                </a:lnTo>
                <a:lnTo>
                  <a:pt x="5448297" y="6858000"/>
                </a:lnTo>
                <a:lnTo>
                  <a:pt x="338667" y="6858000"/>
                </a:lnTo>
                <a:lnTo>
                  <a:pt x="1185333" y="4337050"/>
                </a:lnTo>
                <a:close/>
              </a:path>
            </a:pathLst>
          </a:custGeom>
          <a:noFill/>
          <a:ln>
            <a:noFill/>
          </a:ln>
        </p:spPr>
        <p:txBody>
          <a:bodyPr wrap="square" tIns="365760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4572000"/>
            <a:ext cx="5120640" cy="1600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0281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white">
          <a:xfrm>
            <a:off x="9622368" y="0"/>
            <a:ext cx="2569632" cy="6858000"/>
          </a:xfrm>
          <a:custGeom>
            <a:avLst/>
            <a:gdLst/>
            <a:ahLst/>
            <a:cxnLst/>
            <a:rect l="l" t="t" r="r" b="b"/>
            <a:pathLst>
              <a:path w="1927224" h="6858000">
                <a:moveTo>
                  <a:pt x="0" y="0"/>
                </a:moveTo>
                <a:lnTo>
                  <a:pt x="1927224" y="0"/>
                </a:lnTo>
                <a:lnTo>
                  <a:pt x="1927224" y="6858000"/>
                </a:lnTo>
                <a:lnTo>
                  <a:pt x="254000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9237132" y="0"/>
            <a:ext cx="1672169" cy="6858000"/>
          </a:xfrm>
          <a:custGeom>
            <a:avLst/>
            <a:gdLst/>
            <a:ahLst/>
            <a:cxnLst/>
            <a:rect l="l" t="t" r="r" b="b"/>
            <a:pathLst>
              <a:path w="1254127" h="6858000">
                <a:moveTo>
                  <a:pt x="0" y="0"/>
                </a:moveTo>
                <a:lnTo>
                  <a:pt x="365127" y="0"/>
                </a:lnTo>
                <a:lnTo>
                  <a:pt x="1254127" y="4337050"/>
                </a:lnTo>
                <a:lnTo>
                  <a:pt x="619127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101600" dist="50800" algn="l" rotWithShape="0">
              <a:prstClr val="black">
                <a:alpha val="2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10" name="Freeform 7"/>
          <p:cNvSpPr>
            <a:spLocks/>
          </p:cNvSpPr>
          <p:nvPr/>
        </p:nvSpPr>
        <p:spPr bwMode="auto">
          <a:xfrm>
            <a:off x="9173633" y="0"/>
            <a:ext cx="1460499" cy="6858000"/>
          </a:xfrm>
          <a:custGeom>
            <a:avLst/>
            <a:gdLst/>
            <a:ahLst/>
            <a:cxnLst/>
            <a:rect l="l" t="t" r="r" b="b"/>
            <a:pathLst>
              <a:path w="1095374" h="6858000">
                <a:moveTo>
                  <a:pt x="0" y="0"/>
                </a:moveTo>
                <a:lnTo>
                  <a:pt x="203199" y="0"/>
                </a:lnTo>
                <a:lnTo>
                  <a:pt x="1095374" y="4337050"/>
                </a:lnTo>
                <a:lnTo>
                  <a:pt x="460374" y="6858000"/>
                </a:lnTo>
                <a:lnTo>
                  <a:pt x="257175" y="6858000"/>
                </a:lnTo>
                <a:lnTo>
                  <a:pt x="892175" y="4337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8" y="2914650"/>
            <a:ext cx="8046720" cy="1557338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398" y="4589463"/>
            <a:ext cx="8046718" cy="1011237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9642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8799"/>
            <a:ext cx="4572000" cy="4343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06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4572000" cy="850392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705100"/>
            <a:ext cx="4572000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800"/>
            <a:ext cx="4572000" cy="847725"/>
          </a:xfrm>
        </p:spPr>
        <p:txBody>
          <a:bodyPr anchor="ctr">
            <a:normAutofit/>
          </a:bodyPr>
          <a:lstStyle>
            <a:lvl1pPr marL="0" indent="0"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705100"/>
            <a:ext cx="4572000" cy="346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6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3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3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8209" y="1828800"/>
            <a:ext cx="6126480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6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724400" y="1828801"/>
            <a:ext cx="6172200" cy="434340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0" y="1828800"/>
            <a:ext cx="3017520" cy="4343400"/>
          </a:xfrm>
        </p:spPr>
        <p:txBody>
          <a:bodyPr anchor="ctr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5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1295400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6324599" y="5257800"/>
            <a:ext cx="45720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95400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>
          <a:xfrm>
            <a:off x="6324599" y="5257800"/>
            <a:ext cx="4572000" cy="54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298448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invGray">
          <a:xfrm>
            <a:off x="1371273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3"/>
          </p:nvPr>
        </p:nvSpPr>
        <p:spPr>
          <a:xfrm>
            <a:off x="6324600" y="1828801"/>
            <a:ext cx="4572000" cy="3428999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 bwMode="invGray">
          <a:xfrm>
            <a:off x="6412954" y="5333098"/>
            <a:ext cx="4420252" cy="839102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10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E3F6-DE14-48B2-B2BC-6FABA9630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4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 rot="5400000">
            <a:off x="7562850" y="2228850"/>
            <a:ext cx="6858000" cy="2400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 rot="5400000">
            <a:off x="6331230" y="3387909"/>
            <a:ext cx="6858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400000">
            <a:off x="6251613" y="3387909"/>
            <a:ext cx="6858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71318" y="685800"/>
            <a:ext cx="103327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400" y="685800"/>
            <a:ext cx="7976754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A3335-6331-4872-A8B7-ECD55539F4D0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1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0" y="0"/>
            <a:ext cx="12192000" cy="137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1371600"/>
            <a:ext cx="12192000" cy="8218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1443006"/>
            <a:ext cx="12192000" cy="8218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255134"/>
            <a:ext cx="9601200" cy="10368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28800"/>
            <a:ext cx="96012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399" y="6374999"/>
            <a:ext cx="624320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91449" y="6374999"/>
            <a:ext cx="1480705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9A3335-6331-4872-A8B7-ECD55539F4D0}" type="datetimeFigureOut">
              <a:rPr lang="en-US" smtClean="0"/>
              <a:pPr/>
              <a:t>10/8/2024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5000" y="6374999"/>
            <a:ext cx="1371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7F8E3F6-DE14-48B2-B2BC-6FABA9630FB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3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61" r:id="rId11"/>
    <p:sldLayoutId id="2147483658" r:id="rId12"/>
    <p:sldLayoutId id="2147483659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ixabay.com/en/supermarket-stalls-coolers-market-949913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344042"/>
            <a:ext cx="5120640" cy="2560320"/>
          </a:xfrm>
        </p:spPr>
        <p:txBody>
          <a:bodyPr/>
          <a:lstStyle/>
          <a:p>
            <a:r>
              <a:rPr lang="en-US" dirty="0"/>
              <a:t>Customer Personality Analysis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3684" r="23684"/>
          <a:stretch/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1" y="3315637"/>
            <a:ext cx="5120640" cy="127600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Group 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B1F8A5A-4FD0-880F-B6DA-68BE5119083A}"/>
              </a:ext>
            </a:extLst>
          </p:cNvPr>
          <p:cNvSpPr txBox="1">
            <a:spLocks/>
          </p:cNvSpPr>
          <p:nvPr/>
        </p:nvSpPr>
        <p:spPr>
          <a:xfrm>
            <a:off x="1295401" y="5002916"/>
            <a:ext cx="5120640" cy="1276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Problem Statement :</a:t>
            </a:r>
          </a:p>
          <a:p>
            <a:r>
              <a:rPr lang="en-US" sz="1800" dirty="0"/>
              <a:t>- Analyze the effectiveness of discounts on customer purchasing behavior.</a:t>
            </a:r>
          </a:p>
        </p:txBody>
      </p:sp>
    </p:spTree>
    <p:extLst>
      <p:ext uri="{BB962C8B-B14F-4D97-AF65-F5344CB8AC3E}">
        <p14:creationId xmlns:p14="http://schemas.microsoft.com/office/powerpoint/2010/main" val="1380595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(What Data Did we Possess?)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 Demographics (ID, Year of Birth, Education, Marital Status, and Income)</a:t>
            </a:r>
          </a:p>
          <a:p>
            <a:r>
              <a:rPr lang="en-US" dirty="0"/>
              <a:t>Household Compositions (</a:t>
            </a:r>
            <a:r>
              <a:rPr lang="en-US" dirty="0" err="1"/>
              <a:t>KidHome</a:t>
            </a:r>
            <a:r>
              <a:rPr lang="en-US" dirty="0"/>
              <a:t>, </a:t>
            </a:r>
            <a:r>
              <a:rPr lang="en-US" dirty="0" err="1"/>
              <a:t>TeenHome</a:t>
            </a:r>
            <a:r>
              <a:rPr lang="en-US" dirty="0"/>
              <a:t>)</a:t>
            </a:r>
          </a:p>
          <a:p>
            <a:r>
              <a:rPr lang="en-US" dirty="0"/>
              <a:t>Purchasing Behavior (Amount Spent on Items &amp; Discounted Deals Purchased)</a:t>
            </a:r>
          </a:p>
          <a:p>
            <a:r>
              <a:rPr lang="en-US" dirty="0"/>
              <a:t>Promotional Campaigns (1 to 5 and Response Campaign)</a:t>
            </a:r>
          </a:p>
          <a:p>
            <a:r>
              <a:rPr lang="en-US" dirty="0"/>
              <a:t>Shopping Channels</a:t>
            </a:r>
          </a:p>
        </p:txBody>
      </p:sp>
    </p:spTree>
    <p:extLst>
      <p:ext uri="{BB962C8B-B14F-4D97-AF65-F5344CB8AC3E}">
        <p14:creationId xmlns:p14="http://schemas.microsoft.com/office/powerpoint/2010/main" val="363987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and Work Flow</a:t>
            </a:r>
          </a:p>
        </p:txBody>
      </p:sp>
      <p:graphicFrame>
        <p:nvGraphicFramePr>
          <p:cNvPr id="6" name="Content Placeholder 5" descr="Basic Chevron Process diagram showing 4 steps arranged from left to right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472888"/>
              </p:ext>
            </p:extLst>
          </p:nvPr>
        </p:nvGraphicFramePr>
        <p:xfrm>
          <a:off x="1295400" y="1828800"/>
          <a:ext cx="96012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214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FBA073F-BB69-B6A4-24DB-5C795C46FB9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109" r="3109"/>
          <a:stretch>
            <a:fillRect/>
          </a:stretch>
        </p:blipFill>
        <p:spPr/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45592" y="1965024"/>
            <a:ext cx="6400800" cy="2560320"/>
          </a:xfrm>
        </p:spPr>
        <p:txBody>
          <a:bodyPr/>
          <a:lstStyle/>
          <a:p>
            <a:r>
              <a:rPr lang="en-US" dirty="0"/>
              <a:t>Exploratory Data Analysis &amp;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27609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4961-770C-909D-909C-F3FAE86B2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0F28E-60E3-8830-EA56-34B04A983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Customers have been segmented on various factors to assess their purchasing behavior when it comes to discounts. Mostly they are dissected:</a:t>
            </a:r>
          </a:p>
          <a:p>
            <a:r>
              <a:rPr lang="en-US" dirty="0"/>
              <a:t>Level of Income</a:t>
            </a:r>
          </a:p>
          <a:p>
            <a:r>
              <a:rPr lang="en-US" dirty="0"/>
              <a:t>Level of Education</a:t>
            </a:r>
          </a:p>
          <a:p>
            <a:r>
              <a:rPr lang="en-US" dirty="0"/>
              <a:t>Amount of Spending</a:t>
            </a:r>
          </a:p>
          <a:p>
            <a:r>
              <a:rPr lang="en-US" dirty="0"/>
              <a:t>Discount Used or Not</a:t>
            </a:r>
          </a:p>
        </p:txBody>
      </p:sp>
    </p:spTree>
    <p:extLst>
      <p:ext uri="{BB962C8B-B14F-4D97-AF65-F5344CB8AC3E}">
        <p14:creationId xmlns:p14="http://schemas.microsoft.com/office/powerpoint/2010/main" val="231302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Discount Purchases Based on Income Level &amp; Education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560AF7-2BCA-13F0-E443-A04DF7077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558" y="3608206"/>
            <a:ext cx="4016974" cy="2994660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583348-FB5E-9FFC-5474-126092A864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8" y="1603941"/>
            <a:ext cx="4266132" cy="318050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EDC2C0-FDBA-4583-F8CA-487CA62A4E0E}"/>
              </a:ext>
            </a:extLst>
          </p:cNvPr>
          <p:cNvSpPr txBox="1"/>
          <p:nvPr/>
        </p:nvSpPr>
        <p:spPr>
          <a:xfrm>
            <a:off x="498764" y="5105536"/>
            <a:ext cx="53533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Individuals with 'Master' and 'PhD' levels of education have a wider range of discount purchases, with several outliers indicating high numbers of discount purchases.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'2n Cycle' and 'Basic' education levels show a more consistent, but lower number of discount purchases.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A3166-87D3-48C6-3C55-7385DF276171}"/>
              </a:ext>
            </a:extLst>
          </p:cNvPr>
          <p:cNvSpPr txBox="1"/>
          <p:nvPr/>
        </p:nvSpPr>
        <p:spPr>
          <a:xfrm>
            <a:off x="6727347" y="1757597"/>
            <a:ext cx="53533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'Very Less' income group shows the highest average number of discounted purchases, while the ‘Very High' income group has the lowest average.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'High' and 'Very High' income groups show significantly fewer average discounted purchases than the 'Less' group.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895761-84F9-3058-B7E8-C40FBB7DB682}"/>
              </a:ext>
            </a:extLst>
          </p:cNvPr>
          <p:cNvCxnSpPr>
            <a:cxnSpLocks/>
          </p:cNvCxnSpPr>
          <p:nvPr/>
        </p:nvCxnSpPr>
        <p:spPr>
          <a:xfrm>
            <a:off x="6209607" y="1585653"/>
            <a:ext cx="0" cy="51892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23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75EC-C2F2-2FB8-2353-DB243CF1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Most Successful Promotional Campaign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D59A1F-C791-B0BE-4DB2-C583818B0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641" y="2069868"/>
            <a:ext cx="5645579" cy="4210397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887CEB-3E24-5071-4F70-90F882C89F69}"/>
              </a:ext>
            </a:extLst>
          </p:cNvPr>
          <p:cNvSpPr txBox="1">
            <a:spLocks/>
          </p:cNvSpPr>
          <p:nvPr/>
        </p:nvSpPr>
        <p:spPr>
          <a:xfrm>
            <a:off x="680259" y="2123900"/>
            <a:ext cx="4345112" cy="41023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 The Response Campaign stood out as the winner as it resonated with the audience.</a:t>
            </a:r>
          </a:p>
          <a:p>
            <a:r>
              <a:rPr lang="en-US" sz="2000" dirty="0"/>
              <a:t>The second campaign significantly underperformed in comparison to its counterparts, marking it as the least engaging initiative.</a:t>
            </a:r>
          </a:p>
          <a:p>
            <a:r>
              <a:rPr lang="en-US" sz="2000" dirty="0"/>
              <a:t>Notable variations across Campaigns 1, 3, 4  &amp; 5 suggesting varying degrees of alignment with customer interests and preferences.</a:t>
            </a:r>
          </a:p>
        </p:txBody>
      </p:sp>
    </p:spTree>
    <p:extLst>
      <p:ext uri="{BB962C8B-B14F-4D97-AF65-F5344CB8AC3E}">
        <p14:creationId xmlns:p14="http://schemas.microsoft.com/office/powerpoint/2010/main" val="61787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8BDEC-5264-2ADB-0C82-53159D592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AC05-1A2E-5C7A-263D-A554063A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Campaign Participation By Education and Household Type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B0887-16DB-2DA7-1350-03E0B8860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266" y="2385752"/>
            <a:ext cx="4800600" cy="3395749"/>
          </a:xfrm>
        </p:spPr>
        <p:txBody>
          <a:bodyPr>
            <a:normAutofit/>
          </a:bodyPr>
          <a:lstStyle/>
          <a:p>
            <a:r>
              <a:rPr lang="en-US" sz="2000" dirty="0"/>
              <a:t>Graduate Customers who don’t have kids saw the most number of participants for Campaigns.</a:t>
            </a:r>
          </a:p>
          <a:p>
            <a:r>
              <a:rPr lang="en-US" sz="2000" dirty="0"/>
              <a:t>Customers with No Kids or Teens in general participated more in campaigns</a:t>
            </a:r>
          </a:p>
          <a:p>
            <a:r>
              <a:rPr lang="en-US" sz="2000" dirty="0"/>
              <a:t>Very few '2n Cycle' and 'Basic' level participants joined the campaign, regardless of household type.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D9BF4-EA32-B82D-A892-A27B88DE8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939" y="1920240"/>
            <a:ext cx="5581650" cy="41605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4119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EAF64-5ACA-52A1-EA33-773B528A7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A951A-74CA-0390-9D56-6534A40D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Educated Customers Purchase Using Campaigns?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67A8EF4-A5CB-E8D9-515A-193B206EB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665" y="2201697"/>
            <a:ext cx="5105400" cy="3806081"/>
          </a:xfrm>
          <a:prstGeom prst="rect">
            <a:avLst/>
          </a:prstGeom>
          <a:noFill/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9F4D9F-D58A-476D-A350-A1FC70E1B608}"/>
              </a:ext>
            </a:extLst>
          </p:cNvPr>
          <p:cNvSpPr txBox="1">
            <a:spLocks/>
          </p:cNvSpPr>
          <p:nvPr/>
        </p:nvSpPr>
        <p:spPr>
          <a:xfrm>
            <a:off x="653935" y="2431471"/>
            <a:ext cx="4345112" cy="4102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9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402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Most participants who joined the 'Response' campaign have a 'Graduation' level education.</a:t>
            </a:r>
          </a:p>
          <a:p>
            <a:r>
              <a:rPr lang="en-US" sz="2000" dirty="0"/>
              <a:t>Having kids at home didn't consistently affect whether people participated in the campaign.</a:t>
            </a:r>
          </a:p>
          <a:p>
            <a:r>
              <a:rPr lang="en-US" sz="2000" dirty="0"/>
              <a:t>Fewer people with 'Basic' or '2n Cycle' education levels took part in the campaign.</a:t>
            </a:r>
          </a:p>
        </p:txBody>
      </p:sp>
    </p:spTree>
    <p:extLst>
      <p:ext uri="{BB962C8B-B14F-4D97-AF65-F5344CB8AC3E}">
        <p14:creationId xmlns:p14="http://schemas.microsoft.com/office/powerpoint/2010/main" val="358657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Discounted Purchases Vs Non Discounted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92752358"/>
              </p:ext>
            </p:extLst>
          </p:nvPr>
        </p:nvGraphicFramePr>
        <p:xfrm>
          <a:off x="799158" y="2695590"/>
          <a:ext cx="4572000" cy="306959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Discount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$12.38M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$5.94M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$13.56M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$3.86M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Deviation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$7.97M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$5.91M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Frequency of 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5.79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82900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4C38EF1-6504-B857-A387-B7A2017DA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2" y="2138060"/>
            <a:ext cx="5612765" cy="4184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385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CFFFC-F504-54D3-422D-3C3A8C2B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 the Rich Care About Discounts?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F790A-7D1B-2DA9-E839-0EBD41968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03" y="2266428"/>
            <a:ext cx="5066934" cy="3732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From the previous slide</a:t>
            </a:r>
          </a:p>
          <a:p>
            <a:r>
              <a:rPr lang="en-US" sz="2000" dirty="0"/>
              <a:t>Customers with above-average income levels spend on items regardless of discounts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'Less', 'Neutral', and 'Very Less' income groups contribute much less to the total spending mostly from discounts that too.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34B952-1D27-9A8C-9CA4-FA02C2AD9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977" y="2165461"/>
            <a:ext cx="5264675" cy="392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53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627CE-B7D4-FF6E-1BBA-CC5BED72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B380-05A9-47E3-425D-81EC23F2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kind of correlation can we see?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E0E1-8C55-8EC4-6EE3-728013092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829" y="2259466"/>
            <a:ext cx="4345112" cy="3650883"/>
          </a:xfrm>
        </p:spPr>
        <p:txBody>
          <a:bodyPr>
            <a:normAutofit/>
          </a:bodyPr>
          <a:lstStyle/>
          <a:p>
            <a:r>
              <a:rPr lang="en-US" sz="2000" dirty="0"/>
              <a:t>Income Level and Total Spending seem to have a positive correlation</a:t>
            </a:r>
          </a:p>
          <a:p>
            <a:r>
              <a:rPr lang="en-US" sz="2000" dirty="0"/>
              <a:t>As income increases the spending increases as well.</a:t>
            </a:r>
          </a:p>
          <a:p>
            <a:r>
              <a:rPr lang="en-US" sz="2000" dirty="0"/>
              <a:t>This corroborates our previous point that customers with high-income levels spend more regardless of discount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83815A-CDE6-42C5-3E25-B6182B28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749" y="1907486"/>
            <a:ext cx="6150261" cy="394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750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FF2B-6D41-2617-7A2C-68AF7576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CBA5E-C59D-3134-A6F6-1D39E54E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&amp; 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519250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8F240-3ADA-3FAA-391E-3999DAFA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B2898C-049F-77D1-04F4-5FC978661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402511"/>
              </p:ext>
            </p:extLst>
          </p:nvPr>
        </p:nvGraphicFramePr>
        <p:xfrm>
          <a:off x="1295400" y="1730318"/>
          <a:ext cx="10201710" cy="441836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26552">
                  <a:extLst>
                    <a:ext uri="{9D8B030D-6E8A-4147-A177-3AD203B41FA5}">
                      <a16:colId xmlns:a16="http://schemas.microsoft.com/office/drawing/2014/main" val="3241467115"/>
                    </a:ext>
                  </a:extLst>
                </a:gridCol>
                <a:gridCol w="5775158">
                  <a:extLst>
                    <a:ext uri="{9D8B030D-6E8A-4147-A177-3AD203B41FA5}">
                      <a16:colId xmlns:a16="http://schemas.microsoft.com/office/drawing/2014/main" val="304574414"/>
                    </a:ext>
                  </a:extLst>
                </a:gridCol>
              </a:tblGrid>
              <a:tr h="730287">
                <a:tc>
                  <a:txBody>
                    <a:bodyPr/>
                    <a:lstStyle/>
                    <a:p>
                      <a:r>
                        <a:rPr lang="en-US" dirty="0"/>
                        <a:t>EDA Employed on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Insight Drawn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97327"/>
                  </a:ext>
                </a:extLst>
              </a:tr>
              <a:tr h="730287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Discount Purchases Based on Income Level &amp; Education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higher variability in the 'Master' and 'PhD' categories may suggest that customers with higher education levels are more likely to take advantage of discounts for larger purchases.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'High' and 'Very High' income groups' lower average might suggest they are less motivated by discounts or that the discounts are not on products they typically purchase.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116437"/>
                  </a:ext>
                </a:extLst>
              </a:tr>
              <a:tr h="73028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Most Successful Promotional Campaign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success of the 'Response' campaign may warrant a deeper dive to uncover the key drivers behind its outstanding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440687"/>
                  </a:ext>
                </a:extLst>
              </a:tr>
              <a:tr h="7302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Campaign Participation By Education and Household Type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Graduate Level customers mainly resonate with the campaigns that are advertised and mainly with no minors at home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275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1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1BE3-0014-E4C4-03F5-E77B1AC7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69317-527D-A7FF-972C-05586573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49694E-3F41-D149-2AB2-6E9137A81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866379"/>
              </p:ext>
            </p:extLst>
          </p:nvPr>
        </p:nvGraphicFramePr>
        <p:xfrm>
          <a:off x="1184977" y="1629442"/>
          <a:ext cx="10201710" cy="5149887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426552">
                  <a:extLst>
                    <a:ext uri="{9D8B030D-6E8A-4147-A177-3AD203B41FA5}">
                      <a16:colId xmlns:a16="http://schemas.microsoft.com/office/drawing/2014/main" val="3241467115"/>
                    </a:ext>
                  </a:extLst>
                </a:gridCol>
                <a:gridCol w="5775158">
                  <a:extLst>
                    <a:ext uri="{9D8B030D-6E8A-4147-A177-3AD203B41FA5}">
                      <a16:colId xmlns:a16="http://schemas.microsoft.com/office/drawing/2014/main" val="304574414"/>
                    </a:ext>
                  </a:extLst>
                </a:gridCol>
              </a:tblGrid>
              <a:tr h="730287">
                <a:tc>
                  <a:txBody>
                    <a:bodyPr/>
                    <a:lstStyle/>
                    <a:p>
                      <a:r>
                        <a:rPr lang="en-US" dirty="0"/>
                        <a:t>EDA Employed on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Insight Drawn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897327"/>
                  </a:ext>
                </a:extLst>
              </a:tr>
              <a:tr h="73028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2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Educated Customers Purchase Using Campaigns?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high participation of customers with a 'Graduation' education level may reflect campaign content that aligns well with the values or interests of this group.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8440687"/>
                  </a:ext>
                </a:extLst>
              </a:tr>
              <a:tr h="73028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 the rich care about Discounts?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spending power of the 'Very High' income group suggests that they may not be as price-sensitive and could be targeted with premium offerings.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Lower income groups may benefit from more aggressive discounts or value-focused marketing to boost their spending.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15907"/>
                  </a:ext>
                </a:extLst>
              </a:tr>
              <a:tr h="73028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hlinkClick r:id="rId4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Correlation Between Income &amp; Total Spending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spread of spending at lower income levels might reflect budget constraints or a selective purchasing approach focused on essential or discounted items.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The trend of increased spending with higher income supports the common economic theory that as disposable income rises, so does consumer spending.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57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41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6C0E-ED1E-6E8C-EC19-0ED70410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23800-C110-AA00-FEA9-07D86AC3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0EE43-A2AA-9097-60CE-CC3F74FF8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Tailor discount strategies to appeal more to the spending habits of customers with higher education, perhaps with offers on premium products.</a:t>
            </a:r>
          </a:p>
          <a:p>
            <a:r>
              <a:rPr lang="en-US" sz="1800" dirty="0"/>
              <a:t>Focus on creating more compelling discount offers for the 'Very Less' income group to encourage increased purchasing.</a:t>
            </a:r>
          </a:p>
          <a:p>
            <a:r>
              <a:rPr lang="en-US" sz="1800" dirty="0"/>
              <a:t>For the 'Less', 'Neutral', and 'Very Less' income groups, consider loyalty programs, special discounts, and promotions to increase engagement and spending.</a:t>
            </a:r>
          </a:p>
          <a:p>
            <a:r>
              <a:rPr lang="en-US" sz="1800" dirty="0"/>
              <a:t>Focus on tending to High-Income customers since they are not driven by discounts.</a:t>
            </a:r>
          </a:p>
          <a:p>
            <a:r>
              <a:rPr lang="en-US" sz="1800" dirty="0"/>
              <a:t>Develop a family-focused promotional campaign to attract customers with minors at home.</a:t>
            </a:r>
          </a:p>
          <a:p>
            <a:r>
              <a:rPr lang="en-US" sz="1800" dirty="0"/>
              <a:t>Remove or try to improve promotional campaign 2 as it underperformed. Try to gain customer feedback and</a:t>
            </a:r>
          </a:p>
        </p:txBody>
      </p:sp>
    </p:spTree>
    <p:extLst>
      <p:ext uri="{BB962C8B-B14F-4D97-AF65-F5344CB8AC3E}">
        <p14:creationId xmlns:p14="http://schemas.microsoft.com/office/powerpoint/2010/main" val="186297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8170-9231-05DC-BA7F-D63A2CBDA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67DB17B-ADF7-C488-8E5F-58F533FC500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6167" r="261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51269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ales Direction 16X9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rection presentation (widescreen).potx" id="{D17AB31B-F25B-45F4-B34E-C6982D129A29}" vid="{B63A7B92-8C2A-4E6A-9062-768A2448E61C}"/>
    </a:ext>
  </a:extLst>
</a:theme>
</file>

<file path=ppt/theme/theme2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lesDirection">
      <a:dk1>
        <a:srgbClr val="595959"/>
      </a:dk1>
      <a:lt1>
        <a:sysClr val="window" lastClr="FFFFFF"/>
      </a:lt1>
      <a:dk2>
        <a:srgbClr val="000000"/>
      </a:dk2>
      <a:lt2>
        <a:srgbClr val="F2F2F2"/>
      </a:lt2>
      <a:accent1>
        <a:srgbClr val="1EB8C1"/>
      </a:accent1>
      <a:accent2>
        <a:srgbClr val="EF7920"/>
      </a:accent2>
      <a:accent3>
        <a:srgbClr val="EFC119"/>
      </a:accent3>
      <a:accent4>
        <a:srgbClr val="969890"/>
      </a:accent4>
      <a:accent5>
        <a:srgbClr val="50B4F2"/>
      </a:accent5>
      <a:accent6>
        <a:srgbClr val="C05A3A"/>
      </a:accent6>
      <a:hlink>
        <a:srgbClr val="EFC119"/>
      </a:hlink>
      <a:folHlink>
        <a:srgbClr val="969890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direction presentation (widescreen)</Template>
  <TotalTime>314</TotalTime>
  <Words>946</Words>
  <Application>Microsoft Office PowerPoint</Application>
  <PresentationFormat>Widescreen</PresentationFormat>
  <Paragraphs>100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Book Antiqua</vt:lpstr>
      <vt:lpstr>Sales Direction 16X9</vt:lpstr>
      <vt:lpstr>Customer Personality Analysis</vt:lpstr>
      <vt:lpstr>Introduction (What Data Did we Possess?)</vt:lpstr>
      <vt:lpstr>Methodology and Work Flow</vt:lpstr>
      <vt:lpstr>Exploratory Data Analysis &amp; Visualization</vt:lpstr>
      <vt:lpstr>Customer Segmentation</vt:lpstr>
      <vt:lpstr>Discount Purchases Based on Income Level &amp; Education</vt:lpstr>
      <vt:lpstr>Most Successful Promotional Campaign</vt:lpstr>
      <vt:lpstr>Campaign Participation By Education and Household Type</vt:lpstr>
      <vt:lpstr>Educated Customers Purchase Using Campaigns?</vt:lpstr>
      <vt:lpstr>Discounted Purchases Vs Non Discounted</vt:lpstr>
      <vt:lpstr>Do the Rich Care About Discounts?</vt:lpstr>
      <vt:lpstr>What kind of correlation can we see?</vt:lpstr>
      <vt:lpstr>Insights &amp; Strategic Recommendations</vt:lpstr>
      <vt:lpstr>Insights</vt:lpstr>
      <vt:lpstr>Insights</vt:lpstr>
      <vt:lpstr>Strategic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Personality Analysis</dc:title>
  <dc:creator>Kshitij Kamat</dc:creator>
  <cp:lastModifiedBy>Kshitij Kamat</cp:lastModifiedBy>
  <cp:revision>10</cp:revision>
  <dcterms:created xsi:type="dcterms:W3CDTF">2024-03-01T14:44:27Z</dcterms:created>
  <dcterms:modified xsi:type="dcterms:W3CDTF">2024-10-08T17:14:21Z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